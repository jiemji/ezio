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00000"/>
          </a:solidFill>
          <a:ln/>
        </p:spPr>
      </p:sp>
      <p:sp>
        <p:nvSpPr>
          <p:cNvPr id="3" name="Text 1"/>
          <p:cNvSpPr/>
          <p:nvPr/>
        </p:nvSpPr>
        <p:spPr>
          <a:xfrm>
            <a:off x="246888" y="374904"/>
            <a:ext cx="11631168" cy="768096"/>
          </a:xfrm>
          <a:prstGeom prst="rect">
            <a:avLst/>
          </a:prstGeom>
          <a:noFill/>
          <a:ln/>
        </p:spPr>
        <p:txBody>
          <a:bodyPr wrap="square" rtlCol="0" anchor="ctr"/>
          <a:lstStyle/>
          <a:p>
            <a:pPr indent="0" marL="0">
              <a:buNone/>
            </a:pPr>
            <a:r>
              <a:rPr lang="en-US" sz="4400" b="1" dirty="0">
                <a:solidFill>
                  <a:schemeClr val="bg1"/>
                </a:solidFill>
                <a:latin typeface="Calibri" pitchFamily="34" charset="0"/>
                <a:ea typeface="Calibri" pitchFamily="34" charset="-122"/>
                <a:cs typeface="Calibri" pitchFamily="34" charset="-120"/>
              </a:rPr>
              <a:t>INTRINSEC CONSEIL</a:t>
            </a:r>
            <a:endParaRPr lang="en-US" sz="4400" dirty="0"/>
          </a:p>
        </p:txBody>
      </p:sp>
      <p:sp>
        <p:nvSpPr>
          <p:cNvPr id="4" name="Text 2"/>
          <p:cNvSpPr/>
          <p:nvPr/>
        </p:nvSpPr>
        <p:spPr>
          <a:xfrm>
            <a:off x="1243584" y="2990088"/>
            <a:ext cx="10351008" cy="1014984"/>
          </a:xfrm>
          <a:prstGeom prst="rect">
            <a:avLst/>
          </a:prstGeom>
          <a:noFill/>
          <a:ln/>
        </p:spPr>
        <p:txBody>
          <a:bodyPr wrap="square" rtlCol="0" anchor="ctr"/>
          <a:lstStyle/>
          <a:p>
            <a:pPr indent="0" marL="0">
              <a:buNone/>
            </a:pPr>
            <a:r>
              <a:rPr lang="en-US" sz="6000" dirty="0">
                <a:solidFill>
                  <a:srgbClr val="000000"/>
                </a:solidFill>
                <a:latin typeface="Calibri" pitchFamily="34" charset="0"/>
                <a:ea typeface="Calibri" pitchFamily="34" charset="-122"/>
                <a:cs typeface="Calibri" pitchFamily="34" charset="-120"/>
              </a:rPr>
              <a:t>Audit Complet ISO 27001 - 22/02/2026</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310000">
            <a:off x="7607808" y="-109728"/>
            <a:ext cx="6254496" cy="7571232"/>
          </a:xfrm>
          <a:prstGeom prst="rect">
            <a:avLst/>
          </a:prstGeom>
          <a:solidFill>
            <a:srgbClr val="C00000"/>
          </a:solidFill>
          <a:ln/>
        </p:spPr>
      </p:sp>
      <p:sp>
        <p:nvSpPr>
          <p:cNvPr id="3" name="Text 1"/>
          <p:cNvSpPr/>
          <p:nvPr/>
        </p:nvSpPr>
        <p:spPr>
          <a:xfrm>
            <a:off x="1252728" y="2551176"/>
            <a:ext cx="4471416" cy="1755648"/>
          </a:xfrm>
          <a:prstGeom prst="rect">
            <a:avLst/>
          </a:prstGeom>
          <a:noFill/>
          <a:ln/>
        </p:spPr>
        <p:txBody>
          <a:bodyPr wrap="square" rtlCol="0" anchor="ctr"/>
          <a:lstStyle/>
          <a:p>
            <a:pPr indent="0" marL="0">
              <a:buNone/>
            </a:pPr>
            <a:r>
              <a:rPr lang="en-US" sz="5400" dirty="0">
                <a:solidFill>
                  <a:srgbClr val="000000"/>
                </a:solidFill>
                <a:latin typeface="Calibri" pitchFamily="34" charset="0"/>
                <a:ea typeface="Calibri" pitchFamily="34" charset="-122"/>
                <a:cs typeface="Calibri" pitchFamily="34" charset="-120"/>
              </a:rPr>
              <a:t>Introduction &amp; Contexte</a:t>
            </a:r>
            <a:endParaRPr lang="en-US" sz="5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978408"/>
          </a:xfrm>
          <a:prstGeom prst="rect">
            <a:avLst/>
          </a:prstGeom>
          <a:solidFill>
            <a:srgbClr val="C00000"/>
          </a:solidFill>
          <a:ln/>
        </p:spPr>
        <p:txBody>
          <a:bodyPr wrap="square" lIns="539750" tIns="180340" rIns="539750" bIns="180340" rtlCol="0" anchor="ctr"/>
          <a:lstStyle/>
          <a:p>
            <a:pPr algn="r" indent="0" marL="0">
              <a:buNone/>
            </a:pPr>
            <a:r>
              <a:rPr lang="en-US" sz="4000" b="1" dirty="0">
                <a:solidFill>
                  <a:schemeClr val="bg1"/>
                </a:solidFill>
                <a:latin typeface="Calibri" pitchFamily="34" charset="0"/>
                <a:ea typeface="Calibri" pitchFamily="34" charset="-122"/>
                <a:cs typeface="Calibri" pitchFamily="34" charset="-120"/>
              </a:rPr>
              <a:t>Introduction &amp; Contexte</a:t>
            </a:r>
            <a:endParaRPr lang="en-US" sz="4000" dirty="0"/>
          </a:p>
        </p:txBody>
      </p:sp>
      <p:sp>
        <p:nvSpPr>
          <p:cNvPr id="3" name="Text 1"/>
          <p:cNvSpPr/>
          <p:nvPr/>
        </p:nvSpPr>
        <p:spPr>
          <a:xfrm>
            <a:off x="137160" y="6428232"/>
            <a:ext cx="107899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Intrinsec - 2026</a:t>
            </a:r>
            <a:endParaRPr lang="en-US" sz="1100" dirty="0"/>
          </a:p>
        </p:txBody>
      </p:sp>
      <p:sp>
        <p:nvSpPr>
          <p:cNvPr id="4" name="Text 2"/>
          <p:cNvSpPr/>
          <p:nvPr/>
        </p:nvSpPr>
        <p:spPr>
          <a:xfrm>
            <a:off x="11475720" y="6428232"/>
            <a:ext cx="585216" cy="265176"/>
          </a:xfrm>
          <a:prstGeom prst="rect">
            <a:avLst/>
          </a:prstGeom>
          <a:solidFill>
            <a:srgbClr val="C00000"/>
          </a:solidFill>
          <a:ln/>
        </p:spPr>
        <p:txBody>
          <a:bodyPr wrap="square"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1</a:t>
            </a:r>
            <a:endParaRPr lang="en-US" sz="1100" dirty="0"/>
          </a:p>
        </p:txBody>
      </p:sp>
      <p:sp>
        <p:nvSpPr>
          <p:cNvPr id="5" name="Text 3"/>
          <p:cNvSpPr/>
          <p:nvPr/>
        </p:nvSpPr>
        <p:spPr>
          <a:xfrm>
            <a:off x="4864608" y="6428232"/>
            <a:ext cx="66751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26/02/2026</a:t>
            </a:r>
            <a:endParaRPr lang="en-US" sz="1100" dirty="0"/>
          </a:p>
        </p:txBody>
      </p:sp>
      <p:sp>
        <p:nvSpPr>
          <p:cNvPr id="6" name="Text 4"/>
          <p:cNvSpPr/>
          <p:nvPr/>
        </p:nvSpPr>
        <p:spPr>
          <a:xfrm>
            <a:off x="411480" y="1344168"/>
            <a:ext cx="11521440" cy="3703320"/>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[Le rapport d'audit de sécurité que nous présentons aujourd'hui est le résultat d'une évaluation approfondie des pratiques et procédures en matière de sécurité au sein de notre organisation. Nous avons entrepris cet audit dans un contexte où la protection des actifs, des données et du personnel est devenue une priorité absolue pour assurer la continuité opérationnelle et la conformité réglementaire.</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L'organisation que nous évaluons dispose d'un vaste portefeuille d'activités qui nécessite un cadre de sécurité robuste. Notre objectif principal était d'examiner l'efficacité des mesures de sécurité existantes, d'identifier les vulnérabilités potentielles et de recommander des améliorations pour renforcer notre posture globale en matière de cybersécurité.</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Ce rapport couvre plusieurs domaines clés tels que le contrôle organisationnel, l'accès aux ressources, la formation du personnel, la sécurité physique et technologique. Nous avons examiné les politiques, procédures, contrôles et pratiques actuelles pour évaluer leur conformité avec les normes internationales et nationales en vigueur.</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Les résultats de notre audit fournissent un aperçu détaillé des forces et faiblesses de nos systèmes de sécurité, ainsi que des recommandations concrètes pour améliorer la résilience face aux menaces émergentes. Nous espérons que ce rapport servira de guide précieux pour orienter les efforts futurs visant à renforcer notre capacité de défense contre les cybermenaces.]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310000">
            <a:off x="7607808" y="-109728"/>
            <a:ext cx="6254496" cy="7571232"/>
          </a:xfrm>
          <a:prstGeom prst="rect">
            <a:avLst/>
          </a:prstGeom>
          <a:solidFill>
            <a:srgbClr val="C00000"/>
          </a:solidFill>
          <a:ln/>
        </p:spPr>
      </p:sp>
      <p:sp>
        <p:nvSpPr>
          <p:cNvPr id="3" name="Text 1"/>
          <p:cNvSpPr/>
          <p:nvPr/>
        </p:nvSpPr>
        <p:spPr>
          <a:xfrm>
            <a:off x="1252728" y="2551176"/>
            <a:ext cx="4471416" cy="1755648"/>
          </a:xfrm>
          <a:prstGeom prst="rect">
            <a:avLst/>
          </a:prstGeom>
          <a:noFill/>
          <a:ln/>
        </p:spPr>
        <p:txBody>
          <a:bodyPr wrap="square" rtlCol="0" anchor="ctr"/>
          <a:lstStyle/>
          <a:p>
            <a:pPr indent="0" marL="0">
              <a:buNone/>
            </a:pPr>
            <a:r>
              <a:rPr lang="en-US" sz="5400" dirty="0">
                <a:solidFill>
                  <a:srgbClr val="000000"/>
                </a:solidFill>
                <a:latin typeface="Calibri" pitchFamily="34" charset="0"/>
                <a:ea typeface="Calibri" pitchFamily="34" charset="-122"/>
                <a:cs typeface="Calibri" pitchFamily="34" charset="-120"/>
              </a:rPr>
              <a:t>Analyse Conformité ISO 27001</a:t>
            </a:r>
            <a:endParaRPr lang="en-US" sz="5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978408"/>
          </a:xfrm>
          <a:prstGeom prst="rect">
            <a:avLst/>
          </a:prstGeom>
          <a:solidFill>
            <a:srgbClr val="C00000"/>
          </a:solidFill>
          <a:ln/>
        </p:spPr>
        <p:txBody>
          <a:bodyPr wrap="square" lIns="539750" tIns="180340" rIns="539750" bIns="180340" rtlCol="0" anchor="ctr"/>
          <a:lstStyle/>
          <a:p>
            <a:pPr algn="r" indent="0" marL="0">
              <a:buNone/>
            </a:pPr>
            <a:r>
              <a:rPr lang="en-US" sz="4000" b="1" dirty="0">
                <a:solidFill>
                  <a:schemeClr val="bg1"/>
                </a:solidFill>
                <a:latin typeface="Calibri" pitchFamily="34" charset="0"/>
                <a:ea typeface="Calibri" pitchFamily="34" charset="-122"/>
                <a:cs typeface="Calibri" pitchFamily="34" charset="-120"/>
              </a:rPr>
              <a:t>Analyse Conformité ISO 27001</a:t>
            </a:r>
            <a:endParaRPr lang="en-US" sz="4000" dirty="0"/>
          </a:p>
        </p:txBody>
      </p:sp>
      <p:sp>
        <p:nvSpPr>
          <p:cNvPr id="3" name="Text 1"/>
          <p:cNvSpPr/>
          <p:nvPr/>
        </p:nvSpPr>
        <p:spPr>
          <a:xfrm>
            <a:off x="137160" y="6428232"/>
            <a:ext cx="107899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Intrinsec - 2026</a:t>
            </a:r>
            <a:endParaRPr lang="en-US" sz="1100" dirty="0"/>
          </a:p>
        </p:txBody>
      </p:sp>
      <p:sp>
        <p:nvSpPr>
          <p:cNvPr id="4" name="Text 2"/>
          <p:cNvSpPr/>
          <p:nvPr/>
        </p:nvSpPr>
        <p:spPr>
          <a:xfrm>
            <a:off x="11475720" y="6428232"/>
            <a:ext cx="585216" cy="265176"/>
          </a:xfrm>
          <a:prstGeom prst="rect">
            <a:avLst/>
          </a:prstGeom>
          <a:solidFill>
            <a:srgbClr val="C00000"/>
          </a:solidFill>
          <a:ln/>
        </p:spPr>
        <p:txBody>
          <a:bodyPr wrap="square"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2</a:t>
            </a:r>
            <a:endParaRPr lang="en-US" sz="1100" dirty="0"/>
          </a:p>
        </p:txBody>
      </p:sp>
      <p:sp>
        <p:nvSpPr>
          <p:cNvPr id="5" name="Text 3"/>
          <p:cNvSpPr/>
          <p:nvPr/>
        </p:nvSpPr>
        <p:spPr>
          <a:xfrm>
            <a:off x="4864608" y="6428232"/>
            <a:ext cx="66751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26/02/2026</a:t>
            </a:r>
            <a:endParaRPr lang="en-US" sz="1100" dirty="0"/>
          </a:p>
        </p:txBody>
      </p:sp>
      <p:sp>
        <p:nvSpPr>
          <p:cNvPr id="6" name="Text 4"/>
          <p:cNvSpPr/>
          <p:nvPr/>
        </p:nvSpPr>
        <p:spPr>
          <a:xfrm>
            <a:off x="411480" y="1344168"/>
            <a:ext cx="11521440" cy="4800600"/>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Les points de non-conformité majeures et mineures selon les données fournies sont les suivants</a:t>
            </a:r>
            <a:endParaRPr lang="en-US" sz="1200" dirty="0"/>
          </a:p>
          <a:p>
            <a:pPr indent="0" marL="0">
              <a:buNone/>
            </a:pP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Points de non-conformité majeure :</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 </a:t>
            </a:r>
            <a:pPr indent="0" marL="0">
              <a:buNone/>
            </a:pPr>
            <a:r>
              <a:rPr lang="en-US" sz="1200" b="1" dirty="0">
                <a:solidFill>
                  <a:srgbClr val="333333"/>
                </a:solidFill>
                <a:latin typeface="Calibri" pitchFamily="34" charset="0"/>
                <a:ea typeface="Calibri" pitchFamily="34" charset="-122"/>
                <a:cs typeface="Calibri" pitchFamily="34" charset="-120"/>
              </a:rPr>
              <a:t>Contrôle des accès (5.15) - Niveau de maturité peu mature, Conformité partielle</a:t>
            </a:r>
            <a:endParaRPr lang="en-US" sz="1200" dirty="0"/>
          </a:p>
          <a:p>
            <a:pPr indent="0" marL="0">
              <a:buNone/>
            </a:pP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Non-conformité majeure</a:t>
            </a:r>
            <a:pPr indent="0" marL="0">
              <a:buNone/>
            </a:pPr>
            <a:r>
              <a:rPr lang="en-US" sz="1200" dirty="0">
                <a:solidFill>
                  <a:srgbClr val="333333"/>
                </a:solidFill>
                <a:latin typeface="Calibri" pitchFamily="34" charset="0"/>
                <a:ea typeface="Calibri" pitchFamily="34" charset="-122"/>
                <a:cs typeface="Calibri" pitchFamily="34" charset="-120"/>
              </a:rPr>
              <a:t> : Les règles de contrôle d’accès ne sont pas définies selon le besoin en connaissances, ce qui peut entraîner un risque élevé de violations de sécurité.</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2. </a:t>
            </a:r>
            <a:pPr indent="0" marL="0">
              <a:buNone/>
            </a:pPr>
            <a:r>
              <a:rPr lang="en-US" sz="1200" b="1" dirty="0">
                <a:solidFill>
                  <a:srgbClr val="333333"/>
                </a:solidFill>
                <a:latin typeface="Calibri" pitchFamily="34" charset="0"/>
                <a:ea typeface="Calibri" pitchFamily="34" charset="-122"/>
                <a:cs typeface="Calibri" pitchFamily="34" charset="-120"/>
              </a:rPr>
              <a:t>Suppression des informations (8.10) - Niveau de maturité peu mature, Conformité non conforme</a:t>
            </a:r>
            <a:endParaRPr lang="en-US" sz="1200" dirty="0"/>
          </a:p>
          <a:p>
            <a:pPr indent="0" marL="0">
              <a:buNone/>
            </a:pP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Non-conformité majeure</a:t>
            </a:r>
            <a:pPr indent="0" marL="0">
              <a:buNone/>
            </a:pPr>
            <a:r>
              <a:rPr lang="en-US" sz="1200" dirty="0">
                <a:solidFill>
                  <a:srgbClr val="333333"/>
                </a:solidFill>
                <a:latin typeface="Calibri" pitchFamily="34" charset="0"/>
                <a:ea typeface="Calibri" pitchFamily="34" charset="-122"/>
                <a:cs typeface="Calibri" pitchFamily="34" charset="-120"/>
              </a:rPr>
              <a:t> : Les informations stockées ne sont pas systématiquement supprimées lorsqu'elles ne sont plus nécessaires, ce qui peut entraîner des risques de fuite de données sensibles.</a:t>
            </a:r>
            <a:endParaRPr lang="en-US" sz="1200" dirty="0"/>
          </a:p>
          <a:p>
            <a:pPr indent="0" marL="0">
              <a:buNone/>
            </a:pP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Points de non-conformité mineure :</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 </a:t>
            </a:r>
            <a:pPr indent="0" marL="0">
              <a:buNone/>
            </a:pPr>
            <a:r>
              <a:rPr lang="en-US" sz="1200" b="1" dirty="0">
                <a:solidFill>
                  <a:srgbClr val="333333"/>
                </a:solidFill>
                <a:latin typeface="Calibri" pitchFamily="34" charset="0"/>
                <a:ea typeface="Calibri" pitchFamily="34" charset="-122"/>
                <a:cs typeface="Calibri" pitchFamily="34" charset="-120"/>
              </a:rPr>
              <a:t>Sensibilisation (6.3) - Niveau de maturité assez mature, Conformité partielle</a:t>
            </a:r>
            <a:endParaRPr lang="en-US" sz="1200" dirty="0"/>
          </a:p>
          <a:p>
            <a:pPr indent="0" marL="0">
              <a:buNone/>
            </a:pP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Non-conformité mineure</a:t>
            </a:r>
            <a:pPr indent="0" marL="0">
              <a:buNone/>
            </a:pPr>
            <a:r>
              <a:rPr lang="en-US" sz="1200" dirty="0">
                <a:solidFill>
                  <a:srgbClr val="333333"/>
                </a:solidFill>
                <a:latin typeface="Calibri" pitchFamily="34" charset="0"/>
                <a:ea typeface="Calibri" pitchFamily="34" charset="-122"/>
                <a:cs typeface="Calibri" pitchFamily="34" charset="-120"/>
              </a:rPr>
              <a:t> : Le personnel et les parties intéressées ne reçoivent pas une sensibilisation appropriée en matière de sécurité, ce qui peut entraîner des comportements inadéquats.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Il est recommandé d'adresser ces points de non-conformité pour améliorer la conformité avec ISO 27001.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310000">
            <a:off x="7607808" y="-109728"/>
            <a:ext cx="6254496" cy="7571232"/>
          </a:xfrm>
          <a:prstGeom prst="rect">
            <a:avLst/>
          </a:prstGeom>
          <a:solidFill>
            <a:srgbClr val="C00000"/>
          </a:solidFill>
          <a:ln/>
        </p:spPr>
      </p:sp>
      <p:sp>
        <p:nvSpPr>
          <p:cNvPr id="3" name="Text 1"/>
          <p:cNvSpPr/>
          <p:nvPr/>
        </p:nvSpPr>
        <p:spPr>
          <a:xfrm>
            <a:off x="1252728" y="2551176"/>
            <a:ext cx="4471416" cy="1755648"/>
          </a:xfrm>
          <a:prstGeom prst="rect">
            <a:avLst/>
          </a:prstGeom>
          <a:noFill/>
          <a:ln/>
        </p:spPr>
        <p:txBody>
          <a:bodyPr wrap="square" rtlCol="0" anchor="ctr"/>
          <a:lstStyle/>
          <a:p>
            <a:pPr indent="0" marL="0">
              <a:buNone/>
            </a:pPr>
            <a:r>
              <a:rPr lang="en-US" sz="5400" dirty="0">
                <a:solidFill>
                  <a:srgbClr val="000000"/>
                </a:solidFill>
                <a:latin typeface="Calibri" pitchFamily="34" charset="0"/>
                <a:ea typeface="Calibri" pitchFamily="34" charset="-122"/>
                <a:cs typeface="Calibri" pitchFamily="34" charset="-120"/>
              </a:rPr>
              <a:t>Plan d'Action Recommandé</a:t>
            </a:r>
            <a:endParaRPr lang="en-US" sz="5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978408"/>
          </a:xfrm>
          <a:prstGeom prst="rect">
            <a:avLst/>
          </a:prstGeom>
          <a:solidFill>
            <a:srgbClr val="C00000"/>
          </a:solidFill>
          <a:ln/>
        </p:spPr>
        <p:txBody>
          <a:bodyPr wrap="square" lIns="539750" tIns="180340" rIns="539750" bIns="180340" rtlCol="0" anchor="ctr"/>
          <a:lstStyle/>
          <a:p>
            <a:pPr algn="r" indent="0" marL="0">
              <a:buNone/>
            </a:pPr>
            <a:r>
              <a:rPr lang="en-US" sz="4000" b="1" dirty="0">
                <a:solidFill>
                  <a:schemeClr val="bg1"/>
                </a:solidFill>
                <a:latin typeface="Calibri" pitchFamily="34" charset="0"/>
                <a:ea typeface="Calibri" pitchFamily="34" charset="-122"/>
                <a:cs typeface="Calibri" pitchFamily="34" charset="-120"/>
              </a:rPr>
              <a:t>Plan d'Action Recommandé</a:t>
            </a:r>
            <a:endParaRPr lang="en-US" sz="4000" dirty="0"/>
          </a:p>
        </p:txBody>
      </p:sp>
      <p:sp>
        <p:nvSpPr>
          <p:cNvPr id="3" name="Text 1"/>
          <p:cNvSpPr/>
          <p:nvPr/>
        </p:nvSpPr>
        <p:spPr>
          <a:xfrm>
            <a:off x="137160" y="6428232"/>
            <a:ext cx="107899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Intrinsec - 2026</a:t>
            </a:r>
            <a:endParaRPr lang="en-US" sz="1100" dirty="0"/>
          </a:p>
        </p:txBody>
      </p:sp>
      <p:sp>
        <p:nvSpPr>
          <p:cNvPr id="4" name="Text 2"/>
          <p:cNvSpPr/>
          <p:nvPr/>
        </p:nvSpPr>
        <p:spPr>
          <a:xfrm>
            <a:off x="11475720" y="6428232"/>
            <a:ext cx="585216" cy="265176"/>
          </a:xfrm>
          <a:prstGeom prst="rect">
            <a:avLst/>
          </a:prstGeom>
          <a:solidFill>
            <a:srgbClr val="C00000"/>
          </a:solidFill>
          <a:ln/>
        </p:spPr>
        <p:txBody>
          <a:bodyPr wrap="square"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3</a:t>
            </a:r>
            <a:endParaRPr lang="en-US" sz="1100" dirty="0"/>
          </a:p>
        </p:txBody>
      </p:sp>
      <p:sp>
        <p:nvSpPr>
          <p:cNvPr id="5" name="Text 3"/>
          <p:cNvSpPr/>
          <p:nvPr/>
        </p:nvSpPr>
        <p:spPr>
          <a:xfrm>
            <a:off x="4864608" y="6428232"/>
            <a:ext cx="66751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26/02/2026</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44168"/>
          <a:ext cx="11521440" cy="914400"/>
        </p:xfrm>
        <a:graphic>
          <a:graphicData uri="http://schemas.openxmlformats.org/drawingml/2006/table">
            <a:tbl>
              <a:tblPr/>
              <a:tblGrid>
                <a:gridCol w="3840480"/>
                <a:gridCol w="3840480"/>
                <a:gridCol w="3840480"/>
              </a:tblGrid>
              <a:tr h="36576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Titre du contrôle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0000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Conformité</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0000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Actions recommandées (IA)</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00000"/>
                    </a:solidFill>
                  </a:tcPr>
                </a:tc>
              </a:tr>
              <a:tr h="36576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Politiques de sécurité</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Conforme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2C55E"/>
                    </a:solidFill>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[MOCK] Réponse IA générée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r>
              <a:tr h="36576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Contrôle des accès</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Conforme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2C55E"/>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Sensibilisation</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partiellement conforme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AB308"/>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r>
              <a:tr h="36576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Entrées physiques</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Conforme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2C55E"/>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Protection malware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Conforme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2C55E"/>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r>
              <a:tr h="36576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Suppression des informations</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non conforme</a:t>
                      </a: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F4444"/>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4087368"/>
            <a:ext cx="11521440" cy="137160"/>
          </a:xfrm>
          <a:prstGeom prst="rect">
            <a:avLst/>
          </a:prstGeom>
          <a:noFill/>
          <a:ln/>
        </p:spPr>
        <p:txBody>
          <a:bodyPr wrap="square" lIns="0" tIns="0" rIns="0" bIns="0" rtlCol="0" anchor="t"/>
          <a:lstStyle/>
          <a:p>
            <a:pPr indent="0" marL="0">
              <a:buNone/>
            </a:pP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978408"/>
          </a:xfrm>
          <a:prstGeom prst="rect">
            <a:avLst/>
          </a:prstGeom>
          <a:solidFill>
            <a:srgbClr val="C00000"/>
          </a:solidFill>
          <a:ln/>
        </p:spPr>
        <p:txBody>
          <a:bodyPr wrap="square" lIns="539750" tIns="180340" rIns="539750" bIns="180340" rtlCol="0" anchor="ctr"/>
          <a:lstStyle/>
          <a:p>
            <a:pPr algn="r" indent="0" marL="0">
              <a:buNone/>
            </a:pPr>
            <a:r>
              <a:rPr lang="en-US" sz="4000" b="1" dirty="0">
                <a:solidFill>
                  <a:schemeClr val="bg1"/>
                </a:solidFill>
                <a:latin typeface="Calibri" pitchFamily="34" charset="0"/>
                <a:ea typeface="Calibri" pitchFamily="34" charset="-122"/>
                <a:cs typeface="Calibri" pitchFamily="34" charset="-120"/>
              </a:rPr>
              <a:t>Plan d'Action Recommandé</a:t>
            </a:r>
            <a:endParaRPr lang="en-US" sz="4000" dirty="0"/>
          </a:p>
        </p:txBody>
      </p:sp>
      <p:sp>
        <p:nvSpPr>
          <p:cNvPr id="3" name="Text 1"/>
          <p:cNvSpPr/>
          <p:nvPr/>
        </p:nvSpPr>
        <p:spPr>
          <a:xfrm>
            <a:off x="137160" y="6428232"/>
            <a:ext cx="107899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Intrinsec - 2026</a:t>
            </a:r>
            <a:endParaRPr lang="en-US" sz="1100" dirty="0"/>
          </a:p>
        </p:txBody>
      </p:sp>
      <p:sp>
        <p:nvSpPr>
          <p:cNvPr id="4" name="Text 2"/>
          <p:cNvSpPr/>
          <p:nvPr/>
        </p:nvSpPr>
        <p:spPr>
          <a:xfrm>
            <a:off x="11475720" y="6428232"/>
            <a:ext cx="585216" cy="265176"/>
          </a:xfrm>
          <a:prstGeom prst="rect">
            <a:avLst/>
          </a:prstGeom>
          <a:solidFill>
            <a:srgbClr val="C00000"/>
          </a:solidFill>
          <a:ln/>
        </p:spPr>
        <p:txBody>
          <a:bodyPr wrap="square"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3</a:t>
            </a:r>
            <a:endParaRPr lang="en-US" sz="1100" dirty="0"/>
          </a:p>
        </p:txBody>
      </p:sp>
      <p:sp>
        <p:nvSpPr>
          <p:cNvPr id="5" name="Text 3"/>
          <p:cNvSpPr/>
          <p:nvPr/>
        </p:nvSpPr>
        <p:spPr>
          <a:xfrm>
            <a:off x="4864608" y="6428232"/>
            <a:ext cx="66751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26/02/2026</a:t>
            </a:r>
            <a:endParaRPr lang="en-US" sz="1100" dirty="0"/>
          </a:p>
        </p:txBody>
      </p:sp>
      <p:sp>
        <p:nvSpPr>
          <p:cNvPr id="6" name="Text 4"/>
          <p:cNvSpPr/>
          <p:nvPr/>
        </p:nvSpPr>
        <p:spPr>
          <a:xfrm>
            <a:off x="411480" y="1344168"/>
            <a:ext cx="11521440" cy="9189720"/>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Le plan d'action priorisé pour remédier aux non-conformités et réduire les risques identifiés est le suivant</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 </a:t>
            </a:r>
            <a:pPr indent="0" marL="0">
              <a:buNone/>
            </a:pPr>
            <a:r>
              <a:rPr lang="en-US" sz="1200" b="1" dirty="0">
                <a:solidFill>
                  <a:srgbClr val="333333"/>
                </a:solidFill>
                <a:latin typeface="Calibri" pitchFamily="34" charset="0"/>
                <a:ea typeface="Calibri" pitchFamily="34" charset="-122"/>
                <a:cs typeface="Calibri" pitchFamily="34" charset="-120"/>
              </a:rPr>
              <a:t>Contrôles organisationnels - Contrôle des accès (5.15)</a:t>
            </a:r>
            <a:endParaRPr lang="en-US" sz="1200" dirty="0"/>
          </a:p>
          <a:p>
            <a:pPr indent="0" marL="0">
              <a:buNone/>
            </a:pP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Action</a:t>
            </a:r>
            <a:pPr indent="0" marL="0">
              <a:buNone/>
            </a:pPr>
            <a:r>
              <a:rPr lang="en-US" sz="1200" dirty="0">
                <a:solidFill>
                  <a:srgbClr val="333333"/>
                </a:solidFill>
                <a:latin typeface="Calibri" pitchFamily="34" charset="0"/>
                <a:ea typeface="Calibri" pitchFamily="34" charset="-122"/>
                <a:cs typeface="Calibri" pitchFamily="34" charset="-120"/>
              </a:rPr>
              <a:t> : Définir clairement les règles de contrôle d'accès, les droits et les restrictions en fonction du besoin.</a:t>
            </a:r>
            <a:endParaRPr lang="en-US" sz="1200" dirty="0"/>
          </a:p>
          <a:p>
            <a:pPr marL="342900" indent="-342900">
              <a:buSzPct val="100000"/>
              <a:buChar char="•"/>
            </a:pPr>
            <a:r>
              <a:rPr lang="en-US" sz="1200" b="1" dirty="0">
                <a:solidFill>
                  <a:srgbClr val="333333"/>
                </a:solidFill>
                <a:latin typeface="Calibri" pitchFamily="34" charset="0"/>
                <a:ea typeface="Calibri" pitchFamily="34" charset="-122"/>
                <a:cs typeface="Calibri" pitchFamily="34" charset="-120"/>
              </a:rPr>
              <a:t>Justification</a:t>
            </a:r>
            <a:pPr indent="0" marL="0">
              <a:buNone/>
            </a:pPr>
            <a:r>
              <a:rPr lang="en-US" sz="1200" dirty="0">
                <a:solidFill>
                  <a:srgbClr val="333333"/>
                </a:solidFill>
                <a:latin typeface="Calibri" pitchFamily="34" charset="0"/>
                <a:ea typeface="Calibri" pitchFamily="34" charset="-122"/>
                <a:cs typeface="Calibri" pitchFamily="34" charset="-120"/>
              </a:rPr>
              <a:t> : Cela permettra de s'assurer que seul le personnel autorisé a accès aux zones sensibles.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2. </a:t>
            </a:r>
            <a:pPr indent="0" marL="0">
              <a:buNone/>
            </a:pPr>
            <a:r>
              <a:rPr lang="en-US" sz="1200" b="1" dirty="0">
                <a:solidFill>
                  <a:srgbClr val="333333"/>
                </a:solidFill>
                <a:latin typeface="Calibri" pitchFamily="34" charset="0"/>
                <a:ea typeface="Calibri" pitchFamily="34" charset="-122"/>
                <a:cs typeface="Calibri" pitchFamily="34" charset="-120"/>
              </a:rPr>
              <a:t>Contrôles organisationnels - Politiques de sécurité (5.1)</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a:t>
            </a: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Action</a:t>
            </a:r>
            <a:pPr indent="0" marL="0">
              <a:buNone/>
            </a:pPr>
            <a:r>
              <a:rPr lang="en-US" sz="1200" dirty="0">
                <a:solidFill>
                  <a:srgbClr val="333333"/>
                </a:solidFill>
                <a:latin typeface="Calibri" pitchFamily="34" charset="0"/>
                <a:ea typeface="Calibri" pitchFamily="34" charset="-122"/>
                <a:cs typeface="Calibri" pitchFamily="34" charset="-120"/>
              </a:rPr>
              <a:t> : Mettre à jour la politique de sécurité et vérifier son approbation par la direction.</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a:t>
            </a: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Justification</a:t>
            </a:r>
            <a:pPr indent="0" marL="0">
              <a:buNone/>
            </a:pPr>
            <a:r>
              <a:rPr lang="en-US" sz="1200" dirty="0">
                <a:solidFill>
                  <a:srgbClr val="333333"/>
                </a:solidFill>
                <a:latin typeface="Calibri" pitchFamily="34" charset="0"/>
                <a:ea typeface="Calibri" pitchFamily="34" charset="-122"/>
                <a:cs typeface="Calibri" pitchFamily="34" charset="-120"/>
              </a:rPr>
              <a:t> : Une politique clairement définie, approuvée et communiquée est essentielle pour garantir une gestion efficace des risques.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3. </a:t>
            </a:r>
            <a:pPr indent="0" marL="0">
              <a:buNone/>
            </a:pPr>
            <a:r>
              <a:rPr lang="en-US" sz="1200" b="1" dirty="0">
                <a:solidFill>
                  <a:srgbClr val="333333"/>
                </a:solidFill>
                <a:latin typeface="Calibri" pitchFamily="34" charset="0"/>
                <a:ea typeface="Calibri" pitchFamily="34" charset="-122"/>
                <a:cs typeface="Calibri" pitchFamily="34" charset="-120"/>
              </a:rPr>
              <a:t>Contrôles physiques - Entrées physiques (7.2)</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a:t>
            </a: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Action</a:t>
            </a:r>
            <a:pPr indent="0" marL="0">
              <a:buNone/>
            </a:pPr>
            <a:r>
              <a:rPr lang="en-US" sz="1200" dirty="0">
                <a:solidFill>
                  <a:srgbClr val="333333"/>
                </a:solidFill>
                <a:latin typeface="Calibri" pitchFamily="34" charset="0"/>
                <a:ea typeface="Calibri" pitchFamily="34" charset="-122"/>
                <a:cs typeface="Calibri" pitchFamily="34" charset="-120"/>
              </a:rPr>
              <a:t> : Mettre en place et vérifier les contrôles d'entrée appropriés dans les zones sécurisées.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a:t>
            </a: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Justification</a:t>
            </a:r>
            <a:pPr indent="0" marL="0">
              <a:buNone/>
            </a:pPr>
            <a:r>
              <a:rPr lang="en-US" sz="1200" dirty="0">
                <a:solidFill>
                  <a:srgbClr val="333333"/>
                </a:solidFill>
                <a:latin typeface="Calibri" pitchFamily="34" charset="0"/>
                <a:ea typeface="Calibri" pitchFamily="34" charset="-122"/>
                <a:cs typeface="Calibri" pitchFamily="34" charset="-120"/>
              </a:rPr>
              <a:t> : Cela renforcera la sécurité physique et assurera que seul le personnel autorisé a accès.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4. </a:t>
            </a:r>
            <a:pPr indent="0" marL="0">
              <a:buNone/>
            </a:pPr>
            <a:r>
              <a:rPr lang="en-US" sz="1200" b="1" dirty="0">
                <a:solidFill>
                  <a:srgbClr val="333333"/>
                </a:solidFill>
                <a:latin typeface="Calibri" pitchFamily="34" charset="0"/>
                <a:ea typeface="Calibri" pitchFamily="34" charset="-122"/>
                <a:cs typeface="Calibri" pitchFamily="34" charset="-120"/>
              </a:rPr>
              <a:t>Contrôles technologiques - Suppression des informations (8.10)</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a:t>
            </a: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Action</a:t>
            </a:r>
            <a:pPr indent="0" marL="0">
              <a:buNone/>
            </a:pPr>
            <a:r>
              <a:rPr lang="en-US" sz="1200" dirty="0">
                <a:solidFill>
                  <a:srgbClr val="333333"/>
                </a:solidFill>
                <a:latin typeface="Calibri" pitchFamily="34" charset="0"/>
                <a:ea typeface="Calibri" pitchFamily="34" charset="-122"/>
                <a:cs typeface="Calibri" pitchFamily="34" charset="-120"/>
              </a:rPr>
              <a:t> : Élaborer une procédure de suppression des données inutiles stockées dans les systèmes d'information.</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a:t>
            </a: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Justification</a:t>
            </a:r>
            <a:pPr indent="0" marL="0">
              <a:buNone/>
            </a:pPr>
            <a:r>
              <a:rPr lang="en-US" sz="1200" dirty="0">
                <a:solidFill>
                  <a:srgbClr val="333333"/>
                </a:solidFill>
                <a:latin typeface="Calibri" pitchFamily="34" charset="0"/>
                <a:ea typeface="Calibri" pitchFamily="34" charset="-122"/>
                <a:cs typeface="Calibri" pitchFamily="34" charset="-120"/>
              </a:rPr>
              <a:t> : Cela aidera à réduire le risque de fuite de données et à assurer la conformité avec les réglementations en matière de protection des données.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5. </a:t>
            </a:r>
            <a:pPr indent="0" marL="0">
              <a:buNone/>
            </a:pPr>
            <a:r>
              <a:rPr lang="en-US" sz="1200" b="1" dirty="0">
                <a:solidFill>
                  <a:srgbClr val="333333"/>
                </a:solidFill>
                <a:latin typeface="Calibri" pitchFamily="34" charset="0"/>
                <a:ea typeface="Calibri" pitchFamily="34" charset="-122"/>
                <a:cs typeface="Calibri" pitchFamily="34" charset="-120"/>
              </a:rPr>
              <a:t>Contrôles technologiques - Protection malware (8.7)</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a:t>
            </a: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Action</a:t>
            </a:r>
            <a:pPr indent="0" marL="0">
              <a:buNone/>
            </a:pPr>
            <a:r>
              <a:rPr lang="en-US" sz="1200" dirty="0">
                <a:solidFill>
                  <a:srgbClr val="333333"/>
                </a:solidFill>
                <a:latin typeface="Calibri" pitchFamily="34" charset="0"/>
                <a:ea typeface="Calibri" pitchFamily="34" charset="-122"/>
                <a:cs typeface="Calibri" pitchFamily="34" charset="-120"/>
              </a:rPr>
              <a:t> : Améliorer la sensibilisation du personnel aux menaces liées au logiciel malveillant.</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a:t>
            </a: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Justification</a:t>
            </a:r>
            <a:pPr indent="0" marL="0">
              <a:buNone/>
            </a:pPr>
            <a:r>
              <a:rPr lang="en-US" sz="1200" dirty="0">
                <a:solidFill>
                  <a:srgbClr val="333333"/>
                </a:solidFill>
                <a:latin typeface="Calibri" pitchFamily="34" charset="0"/>
                <a:ea typeface="Calibri" pitchFamily="34" charset="-122"/>
                <a:cs typeface="Calibri" pitchFamily="34" charset="-120"/>
              </a:rPr>
              <a:t> : Une meilleure sensibilisation réduira le risque d'infection par des logiciels malveillants.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Ce plan priorise les actions qui ont un impact immédiat et significatif sur la conformité et la sécurité de l'organisation.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310000">
            <a:off x="7607808" y="-109728"/>
            <a:ext cx="6254496" cy="7571232"/>
          </a:xfrm>
          <a:prstGeom prst="rect">
            <a:avLst/>
          </a:prstGeom>
          <a:solidFill>
            <a:srgbClr val="C00000"/>
          </a:solidFill>
          <a:ln/>
        </p:spPr>
      </p:sp>
      <p:sp>
        <p:nvSpPr>
          <p:cNvPr id="3" name="Text 1"/>
          <p:cNvSpPr/>
          <p:nvPr/>
        </p:nvSpPr>
        <p:spPr>
          <a:xfrm>
            <a:off x="1252728" y="2551176"/>
            <a:ext cx="4471416" cy="1755648"/>
          </a:xfrm>
          <a:prstGeom prst="rect">
            <a:avLst/>
          </a:prstGeom>
          <a:noFill/>
          <a:ln/>
        </p:spPr>
        <p:txBody>
          <a:bodyPr wrap="square" rtlCol="0" anchor="ctr"/>
          <a:lstStyle/>
          <a:p>
            <a:pPr indent="0" marL="0">
              <a:buNone/>
            </a:pPr>
            <a:r>
              <a:rPr lang="en-US" sz="5400" dirty="0">
                <a:solidFill>
                  <a:srgbClr val="000000"/>
                </a:solidFill>
                <a:latin typeface="Calibri" pitchFamily="34" charset="0"/>
                <a:ea typeface="Calibri" pitchFamily="34" charset="-122"/>
                <a:cs typeface="Calibri" pitchFamily="34" charset="-120"/>
              </a:rPr>
              <a:t>Synthèse des Risques</a:t>
            </a:r>
            <a:endParaRPr lang="en-US" sz="5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978408"/>
          </a:xfrm>
          <a:prstGeom prst="rect">
            <a:avLst/>
          </a:prstGeom>
          <a:solidFill>
            <a:srgbClr val="C00000"/>
          </a:solidFill>
          <a:ln/>
        </p:spPr>
        <p:txBody>
          <a:bodyPr wrap="square" lIns="539750" tIns="180340" rIns="539750" bIns="180340" rtlCol="0" anchor="ctr"/>
          <a:lstStyle/>
          <a:p>
            <a:pPr algn="r" indent="0" marL="0">
              <a:buNone/>
            </a:pPr>
            <a:r>
              <a:rPr lang="en-US" sz="4000" b="1" dirty="0">
                <a:solidFill>
                  <a:schemeClr val="bg1"/>
                </a:solidFill>
                <a:latin typeface="Calibri" pitchFamily="34" charset="0"/>
                <a:ea typeface="Calibri" pitchFamily="34" charset="-122"/>
                <a:cs typeface="Calibri" pitchFamily="34" charset="-120"/>
              </a:rPr>
              <a:t>Synthèse des Risques</a:t>
            </a:r>
            <a:endParaRPr lang="en-US" sz="4000" dirty="0"/>
          </a:p>
        </p:txBody>
      </p:sp>
      <p:sp>
        <p:nvSpPr>
          <p:cNvPr id="3" name="Text 1"/>
          <p:cNvSpPr/>
          <p:nvPr/>
        </p:nvSpPr>
        <p:spPr>
          <a:xfrm>
            <a:off x="137160" y="6428232"/>
            <a:ext cx="107899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Intrinsec - 2026</a:t>
            </a:r>
            <a:endParaRPr lang="en-US" sz="1100" dirty="0"/>
          </a:p>
        </p:txBody>
      </p:sp>
      <p:sp>
        <p:nvSpPr>
          <p:cNvPr id="4" name="Text 2"/>
          <p:cNvSpPr/>
          <p:nvPr/>
        </p:nvSpPr>
        <p:spPr>
          <a:xfrm>
            <a:off x="11475720" y="6428232"/>
            <a:ext cx="585216" cy="265176"/>
          </a:xfrm>
          <a:prstGeom prst="rect">
            <a:avLst/>
          </a:prstGeom>
          <a:solidFill>
            <a:srgbClr val="C00000"/>
          </a:solidFill>
          <a:ln/>
        </p:spPr>
        <p:txBody>
          <a:bodyPr wrap="square"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4</a:t>
            </a:r>
            <a:endParaRPr lang="en-US" sz="1100" dirty="0"/>
          </a:p>
        </p:txBody>
      </p:sp>
      <p:sp>
        <p:nvSpPr>
          <p:cNvPr id="5" name="Text 3"/>
          <p:cNvSpPr/>
          <p:nvPr/>
        </p:nvSpPr>
        <p:spPr>
          <a:xfrm>
            <a:off x="4864608" y="6428232"/>
            <a:ext cx="667512" cy="265176"/>
          </a:xfrm>
          <a:prstGeom prst="rect">
            <a:avLst/>
          </a:prstGeom>
          <a:noFill/>
          <a:ln/>
        </p:spPr>
        <p:txBody>
          <a:bodyPr wrap="square" rtlCol="0" anchor="ctr"/>
          <a:lstStyle/>
          <a:p>
            <a:pPr indent="0" marL="0">
              <a:buNone/>
            </a:pPr>
            <a:r>
              <a:rPr lang="en-US" sz="1100" dirty="0">
                <a:solidFill>
                  <a:srgbClr val="000000"/>
                </a:solidFill>
                <a:latin typeface="Calibri" pitchFamily="34" charset="0"/>
                <a:ea typeface="Calibri" pitchFamily="34" charset="-122"/>
                <a:cs typeface="Calibri" pitchFamily="34" charset="-120"/>
              </a:rPr>
              <a:t>26/02/2026</a:t>
            </a:r>
            <a:endParaRPr lang="en-US" sz="1100" dirty="0"/>
          </a:p>
        </p:txBody>
      </p:sp>
      <p:sp>
        <p:nvSpPr>
          <p:cNvPr id="6" name="Text 4"/>
          <p:cNvSpPr/>
          <p:nvPr/>
        </p:nvSpPr>
        <p:spPr>
          <a:xfrm>
            <a:off x="411480" y="1344168"/>
            <a:ext cx="11521440" cy="4663440"/>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[Les risques principaux basés sur les vulnérabilités détectées, classés par criticité :]</a:t>
            </a:r>
            <a:endParaRPr lang="en-US" sz="1200" dirty="0"/>
          </a:p>
          <a:p>
            <a:pPr indent="0" marL="0">
              <a:buNone/>
            </a:pP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Élevé:</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 </a:t>
            </a:r>
            <a:pPr indent="0" marL="0">
              <a:buNone/>
            </a:pPr>
            <a:r>
              <a:rPr lang="en-US" sz="1200" b="1" dirty="0">
                <a:solidFill>
                  <a:srgbClr val="333333"/>
                </a:solidFill>
                <a:latin typeface="Calibri" pitchFamily="34" charset="0"/>
                <a:ea typeface="Calibri" pitchFamily="34" charset="-122"/>
                <a:cs typeface="Calibri" pitchFamily="34" charset="-120"/>
              </a:rPr>
              <a:t>Contrôle des accès (5.15):</a:t>
            </a:r>
            <a:pPr indent="0" marL="0">
              <a:buNone/>
            </a:pPr>
            <a:r>
              <a:rPr lang="en-US" sz="1200" dirty="0">
                <a:solidFill>
                  <a:srgbClr val="333333"/>
                </a:solidFill>
                <a:latin typeface="Calibri" pitchFamily="34" charset="0"/>
                <a:ea typeface="Calibri" pitchFamily="34" charset="-122"/>
                <a:cs typeface="Calibri" pitchFamily="34" charset="-120"/>
              </a:rPr>
              <a:t> Les règles de contrôle d’accès ne sont pas bien définies et appliquées.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2. </a:t>
            </a:r>
            <a:pPr indent="0" marL="0">
              <a:buNone/>
            </a:pPr>
            <a:r>
              <a:rPr lang="en-US" sz="1200" b="1" dirty="0">
                <a:solidFill>
                  <a:srgbClr val="333333"/>
                </a:solidFill>
                <a:latin typeface="Calibri" pitchFamily="34" charset="0"/>
                <a:ea typeface="Calibri" pitchFamily="34" charset="-122"/>
                <a:cs typeface="Calibri" pitchFamily="34" charset="-120"/>
              </a:rPr>
              <a:t>Suppression des informations (8.10):</a:t>
            </a:r>
            <a:pPr indent="0" marL="0">
              <a:buNone/>
            </a:pPr>
            <a:r>
              <a:rPr lang="en-US" sz="1200" dirty="0">
                <a:solidFill>
                  <a:srgbClr val="333333"/>
                </a:solidFill>
                <a:latin typeface="Calibri" pitchFamily="34" charset="0"/>
                <a:ea typeface="Calibri" pitchFamily="34" charset="-122"/>
                <a:cs typeface="Calibri" pitchFamily="34" charset="-120"/>
              </a:rPr>
              <a:t> L'absence de procédure efficace pour supprimer les données sensibles.</a:t>
            </a:r>
            <a:endParaRPr lang="en-US" sz="1200" dirty="0"/>
          </a:p>
          <a:p>
            <a:pPr indent="0" marL="0">
              <a:buNone/>
            </a:pP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Moyen:</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 </a:t>
            </a:r>
            <a:pPr indent="0" marL="0">
              <a:buNone/>
            </a:pPr>
            <a:r>
              <a:rPr lang="en-US" sz="1200" b="1" dirty="0">
                <a:solidFill>
                  <a:srgbClr val="333333"/>
                </a:solidFill>
                <a:latin typeface="Calibri" pitchFamily="34" charset="0"/>
                <a:ea typeface="Calibri" pitchFamily="34" charset="-122"/>
                <a:cs typeface="Calibri" pitchFamily="34" charset="-120"/>
              </a:rPr>
              <a:t>Sensibilisation (6.3):</a:t>
            </a:r>
            <a:pPr indent="0" marL="0">
              <a:buNone/>
            </a:pPr>
            <a:r>
              <a:rPr lang="en-US" sz="1200" dirty="0">
                <a:solidFill>
                  <a:srgbClr val="333333"/>
                </a:solidFill>
                <a:latin typeface="Calibri" pitchFamily="34" charset="0"/>
                <a:ea typeface="Calibri" pitchFamily="34" charset="-122"/>
                <a:cs typeface="Calibri" pitchFamily="34" charset="-120"/>
              </a:rPr>
              <a:t> La formation du personnel en matière de sécurité est incomplète et ne couvre pas tous les aspects nécessaires.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2. </a:t>
            </a:r>
            <a:pPr indent="0" marL="0">
              <a:buNone/>
            </a:pPr>
            <a:r>
              <a:rPr lang="en-US" sz="1200" b="1" dirty="0">
                <a:solidFill>
                  <a:srgbClr val="333333"/>
                </a:solidFill>
                <a:latin typeface="Calibri" pitchFamily="34" charset="0"/>
                <a:ea typeface="Calibri" pitchFamily="34" charset="-122"/>
                <a:cs typeface="Calibri" pitchFamily="34" charset="-120"/>
              </a:rPr>
              <a:t>Protection malware (8.7):</a:t>
            </a:r>
            <a:pPr indent="0" marL="0">
              <a:buNone/>
            </a:pPr>
            <a:r>
              <a:rPr lang="en-US" sz="1200" dirty="0">
                <a:solidFill>
                  <a:srgbClr val="333333"/>
                </a:solidFill>
                <a:latin typeface="Calibri" pitchFamily="34" charset="0"/>
                <a:ea typeface="Calibri" pitchFamily="34" charset="-122"/>
                <a:cs typeface="Calibri" pitchFamily="34" charset="-120"/>
              </a:rPr>
              <a:t> Bien que la protection contre les logiciels malveillants soit mise en œuvre, elle pourrait être améliorée par des mises à jour plus fréquentes.</a:t>
            </a:r>
            <a:endParaRPr lang="en-US" sz="1200" dirty="0"/>
          </a:p>
          <a:p>
            <a:pPr indent="0" marL="0">
              <a:buNone/>
            </a:pP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Faible:</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1. </a:t>
            </a:r>
            <a:pPr indent="0" marL="0">
              <a:buNone/>
            </a:pPr>
            <a:r>
              <a:rPr lang="en-US" sz="1200" b="1" dirty="0">
                <a:solidFill>
                  <a:srgbClr val="333333"/>
                </a:solidFill>
                <a:latin typeface="Calibri" pitchFamily="34" charset="0"/>
                <a:ea typeface="Calibri" pitchFamily="34" charset="-122"/>
                <a:cs typeface="Calibri" pitchFamily="34" charset="-120"/>
              </a:rPr>
              <a:t>Politiques de sécurité (5.1):</a:t>
            </a:r>
            <a:pPr indent="0" marL="0">
              <a:buNone/>
            </a:pPr>
            <a:r>
              <a:rPr lang="en-US" sz="1200" dirty="0">
                <a:solidFill>
                  <a:srgbClr val="333333"/>
                </a:solidFill>
                <a:latin typeface="Calibri" pitchFamily="34" charset="0"/>
                <a:ea typeface="Calibri" pitchFamily="34" charset="-122"/>
                <a:cs typeface="Calibri" pitchFamily="34" charset="-120"/>
              </a:rPr>
              <a:t> Les politiques sont définies et approuvées, mais la diffusion aux employés pourrait être plus extensive.</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2. </a:t>
            </a:r>
            <a:pPr indent="0" marL="0">
              <a:buNone/>
            </a:pPr>
            <a:r>
              <a:rPr lang="en-US" sz="1200" b="1" dirty="0">
                <a:solidFill>
                  <a:srgbClr val="333333"/>
                </a:solidFill>
                <a:latin typeface="Calibri" pitchFamily="34" charset="0"/>
                <a:ea typeface="Calibri" pitchFamily="34" charset="-122"/>
                <a:cs typeface="Calibri" pitchFamily="34" charset="-120"/>
              </a:rPr>
              <a:t>Contrôle physique (7.2):</a:t>
            </a:r>
            <a:pPr indent="0" marL="0">
              <a:buNone/>
            </a:pPr>
            <a:r>
              <a:rPr lang="en-US" sz="1200" dirty="0">
                <a:solidFill>
                  <a:srgbClr val="333333"/>
                </a:solidFill>
                <a:latin typeface="Calibri" pitchFamily="34" charset="0"/>
                <a:ea typeface="Calibri" pitchFamily="34" charset="-122"/>
                <a:cs typeface="Calibri" pitchFamily="34" charset="-120"/>
              </a:rPr>
              <a:t> Les contrôles d'entrée physiques existent, mais leur efficacité peut être renforcée par des améliorations mineures.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Ces classifications reflètent l'état actuel des contrôles et les actions recommandées pour améliorer la sécurité globale de l'organisation.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Ezio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 Complet ISO 27001 - 22/02/2026</dc:title>
  <dc:subject>PptxGenJS Presentation</dc:subject>
  <dc:creator>Ezio IA</dc:creator>
  <cp:lastModifiedBy>Ezio IA</cp:lastModifiedBy>
  <cp:revision>1</cp:revision>
  <dcterms:created xsi:type="dcterms:W3CDTF">2026-02-26T21:45:08Z</dcterms:created>
  <dcterms:modified xsi:type="dcterms:W3CDTF">2026-02-26T21:45:08Z</dcterms:modified>
</cp:coreProperties>
</file>