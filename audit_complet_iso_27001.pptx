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527048" y="1124712"/>
            <a:ext cx="9144000" cy="4133088"/>
          </a:xfrm>
          <a:prstGeom prst="rect">
            <a:avLst/>
          </a:prstGeom>
          <a:noFill/>
          <a:ln/>
        </p:spPr>
        <p:txBody>
          <a:bodyPr wrap="square" rtlCol="0" anchor="b"/>
          <a:lstStyle/>
          <a:p>
            <a:pPr indent="0" marL="0">
              <a:buNone/>
            </a:pPr>
            <a:r>
              <a:rPr lang="en-US" sz="1200" dirty="0">
                <a:solidFill>
                  <a:srgbClr val="000000"/>
                </a:solidFill>
                <a:latin typeface="Arial" pitchFamily="34" charset="0"/>
                <a:ea typeface="Arial" pitchFamily="34" charset="-122"/>
                <a:cs typeface="Arial" pitchFamily="34" charset="-120"/>
              </a:rPr>
              <a:t>Audit Complet ISO 27001</a:t>
            </a:r>
            <a:endParaRPr lang="en-US" sz="1200" dirty="0"/>
          </a:p>
          <a:p>
            <a:pPr indent="0" marL="0">
              <a:buNone/>
            </a:pPr>
            <a:r>
              <a:rPr lang="en-US" sz="1200" dirty="0">
                <a:solidFill>
                  <a:srgbClr val="000000"/>
                </a:solidFill>
                <a:latin typeface="Arial" pitchFamily="34" charset="0"/>
                <a:ea typeface="Arial" pitchFamily="34" charset="-122"/>
                <a:cs typeface="Arial" pitchFamily="34" charset="-120"/>
              </a:rPr>
              <a:t>Modifiez le style des sous-titres du masque</a:t>
            </a:r>
            <a:endParaRPr lang="en-US" sz="1200" dirty="0"/>
          </a:p>
        </p:txBody>
      </p:sp>
      <p:pic>
        <p:nvPicPr>
          <p:cNvPr id="3" name="Image 0" descr="logo.png">    </p:cNvPr>
          <p:cNvPicPr>
            <a:picLocks noChangeAspect="1"/>
          </p:cNvPicPr>
          <p:nvPr/>
        </p:nvPicPr>
        <p:blipFill>
          <a:blip r:embed="rId1"/>
          <a:stretch>
            <a:fillRect/>
          </a:stretch>
        </p:blipFill>
        <p:spPr>
          <a:xfrm rot="20952000">
            <a:off x="347472" y="411480"/>
            <a:ext cx="3730752" cy="76809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rot="20952000">
            <a:off x="347472" y="411480"/>
            <a:ext cx="3730752" cy="768096"/>
          </a:xfrm>
          <a:prstGeom prst="rect">
            <a:avLst/>
          </a:prstGeom>
        </p:spPr>
      </p:pic>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1371600"/>
                <a:gridCol w="1371600"/>
                <a:gridCol w="1371600"/>
                <a:gridCol w="1371600"/>
                <a:gridCol w="1371600"/>
                <a:gridCol w="1371600"/>
              </a:tblGrid>
              <a:tr h="365760">
                <a:tc>
                  <a:txBody>
                    <a:bodyPr/>
                    <a:lstStyle/>
                    <a:p>
                      <a:pPr indent="0" marL="0">
                        <a:buNone/>
                      </a:pPr>
                      <a:r>
                        <a:rPr lang="en-US" sz="1000" dirty="0">
                          <a:solidFill>
                            <a:srgbClr val="000000"/>
                          </a:solidFill>
                          <a:latin typeface="Arial" pitchFamily="34" charset="0"/>
                          <a:ea typeface="Arial" pitchFamily="34" charset="-122"/>
                          <a:cs typeface="Arial" pitchFamily="34" charset="-120"/>
                        </a:rPr>
                        <a:t>Domaine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Réf</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Titre du contrôle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Niveau de maturité</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Conformité</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Actions recommandées (IA)</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r>
              <a:tr h="365760">
                <a:tc>
                  <a:txBody>
                    <a:bodyPr/>
                    <a:lstStyle/>
                    <a:p>
                      <a:pPr indent="0" marL="0">
                        <a:buNone/>
                      </a:pPr>
                      <a:r>
                        <a:rPr lang="en-US" sz="1000" dirty="0">
                          <a:solidFill>
                            <a:srgbClr val="000000"/>
                          </a:solidFill>
                          <a:latin typeface="Arial" pitchFamily="34" charset="0"/>
                          <a:ea typeface="Arial" pitchFamily="34" charset="-122"/>
                          <a:cs typeface="Arial" pitchFamily="34" charset="-120"/>
                        </a:rPr>
                        <a:t>6. Contrôles des personnes</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6.3</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Sensibilisation</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assez mature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partiellement conforme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r>
              <a:tr h="365760">
                <a:tc>
                  <a:txBody>
                    <a:bodyPr/>
                    <a:lstStyle/>
                    <a:p>
                      <a:pPr indent="0" marL="0">
                        <a:buNone/>
                      </a:pPr>
                      <a:r>
                        <a:rPr lang="en-US" sz="1000" dirty="0">
                          <a:solidFill>
                            <a:srgbClr val="000000"/>
                          </a:solidFill>
                          <a:latin typeface="Arial" pitchFamily="34" charset="0"/>
                          <a:ea typeface="Arial" pitchFamily="34" charset="-122"/>
                          <a:cs typeface="Arial" pitchFamily="34" charset="-120"/>
                        </a:rPr>
                        <a:t>7. Contrôles physiques</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7.2</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Entrées physiques</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très mature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Conforme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r>
              <a:tr h="365760">
                <a:tc>
                  <a:txBody>
                    <a:bodyPr/>
                    <a:lstStyle/>
                    <a:p>
                      <a:pPr indent="0" marL="0">
                        <a:buNone/>
                      </a:pPr>
                      <a:r>
                        <a:rPr lang="en-US" sz="1000" dirty="0">
                          <a:solidFill>
                            <a:srgbClr val="000000"/>
                          </a:solidFill>
                          <a:latin typeface="Arial" pitchFamily="34" charset="0"/>
                          <a:ea typeface="Arial" pitchFamily="34" charset="-122"/>
                          <a:cs typeface="Arial" pitchFamily="34" charset="-120"/>
                        </a:rPr>
                        <a:t>8. Contrôles technologiques</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8.7</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Protection malware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mature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r>
                        <a:rPr lang="en-US" sz="1000" dirty="0">
                          <a:solidFill>
                            <a:srgbClr val="000000"/>
                          </a:solidFill>
                          <a:latin typeface="Arial" pitchFamily="34" charset="0"/>
                          <a:ea typeface="Arial" pitchFamily="34" charset="-122"/>
                          <a:cs typeface="Arial" pitchFamily="34" charset="-120"/>
                        </a:rPr>
                        <a:t>Conforme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c>
                  <a:txBody>
                    <a:bodyPr/>
                    <a:lstStyle/>
                    <a:p>
                      <a:pPr indent="0" marL="0">
                        <a:buNone/>
                      </a:pP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7F7F7"/>
                    </a:solidFill>
                  </a:tcPr>
                </a:tc>
              </a:tr>
            </a:tbl>
          </a:graphicData>
        </a:graphic>
      </p:graphicFrame>
      <p:sp>
        <p:nvSpPr>
          <p:cNvPr id="4" name="Text 0"/>
          <p:cNvSpPr/>
          <p:nvPr/>
        </p:nvSpPr>
        <p:spPr>
          <a:xfrm>
            <a:off x="457200" y="2560320"/>
            <a:ext cx="8229600" cy="1097280"/>
          </a:xfrm>
          <a:prstGeom prst="rect">
            <a:avLst/>
          </a:prstGeom>
          <a:noFill/>
          <a:ln/>
        </p:spPr>
        <p:txBody>
          <a:bodyPr wrap="square" rtlCol="0" anchor="ctr"/>
          <a:lstStyle/>
          <a:p>
            <a:pPr indent="0" marL="0">
              <a:buNone/>
            </a:pPr>
            <a:r>
              <a:rPr lang="en-US" sz="1200" dirty="0">
                <a:solidFill>
                  <a:srgbClr val="333333"/>
                </a:solidFill>
                <a:latin typeface="Arial" pitchFamily="34" charset="0"/>
                <a:ea typeface="Arial" pitchFamily="34" charset="-122"/>
                <a:cs typeface="Arial" pitchFamily="34" charset="-120"/>
              </a:rPr>
              <a:t>&lt;br&gt;&lt;br&gt;</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[Le rapport d'audit de sécurité que vous présentez est le fruit d'un examen minutieux des processus et systèmes de notre organisation, visant à garantir la protection intégrale de nos actifs numériques. Notre entreprise, reconnue pour son engagement envers l'excellence opérationnelle et la conformité réglementaire, a opté pour un audit externe afin d'obtenir une perspective indépendante sur notre posture de sécurité.</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L'objectif principal de cet audit est de fournir des recommandations concrètes qui permettront non seulement de renforcer nos mécanismes actuels de protection, mais aussi de s'aligner avec les meilleures pratiques internationales. Nous avons choisi d'évaluer spécifiquement trois domaines clés : la sensibilisation et le contrôle des personnes (domaine 6), les contrôles physiques (domaine 7) ainsi que la protection contre les menaces technologiques, en particulier celles liées aux logiciels malveillants (domaine 8).</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Les résultats de l'audit révèlent une maturité variable dans ces domaines, avec des recommandations précises pour améliorer nos protocoles et atteindre un niveau de conformité optimal. Nous sommes convaincus que les actions suggérées, combinées à notre détermination continue d'améliorer notre environnement de sécurité, nous permettront de mieux anticiper et gérer les risques potentiels.]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rot="20952000">
            <a:off x="347472" y="411480"/>
            <a:ext cx="3730752" cy="768096"/>
          </a:xfrm>
          <a:prstGeom prst="rect">
            <a:avLst/>
          </a:prstGeom>
        </p:spPr>
      </p:pic>
      <p:sp>
        <p:nvSpPr>
          <p:cNvPr id="3" name="Text 0"/>
          <p:cNvSpPr/>
          <p:nvPr/>
        </p:nvSpPr>
        <p:spPr>
          <a:xfrm>
            <a:off x="457200" y="914400"/>
            <a:ext cx="8229600" cy="2743200"/>
          </a:xfrm>
          <a:prstGeom prst="rect">
            <a:avLst/>
          </a:prstGeom>
          <a:noFill/>
          <a:ln/>
        </p:spPr>
        <p:txBody>
          <a:bodyPr wrap="square" rtlCol="0" anchor="ctr"/>
          <a:lstStyle/>
          <a:p>
            <a:pPr indent="0" marL="0">
              <a:buNone/>
            </a:pPr>
            <a:r>
              <a:rPr lang="en-US" sz="1200" dirty="0">
                <a:solidFill>
                  <a:srgbClr val="333333"/>
                </a:solidFill>
                <a:latin typeface="Arial" pitchFamily="34" charset="0"/>
                <a:ea typeface="Arial" pitchFamily="34" charset="-122"/>
                <a:cs typeface="Arial" pitchFamily="34" charset="-120"/>
              </a:rPr>
              <a:t>[Les données nécessaires pour effectuer une analyse en détail ne sont pas fournies dans votre requête. Cependant, je peux vous aider à structurer l'analyse que vous souhaitez faire sur la conformité avec les normes ISO 27001.</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Pour évaluer la conformité par rapport aux normes ISO 27001, il est important de suivre ces étapes :</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1. Comprendre les exigences : Familiarisez-vous avec tous les articles et clauses des normes ISO 27001.</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2. Répertorier les contrôles pertinents : Identifiez les contrôles spécifiques qui sont requis pour chaque clause de la norme.</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3. Évaluer l'application : Vérifiez si ces contrôles sont correctement appliqués et documentés dans votre organisation.</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4. Identifier les points de non-conformité :</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Points de non-conformité majeurs : Ces sont des écarts significatifs qui peuvent entraîner un échec total de l'atteinte d'un objectif de sécurité ou une violation importante des normes ISO 27001.</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Points de non-conformité mineurs : Ce sont des écarts moins importants, mais néanmoins nécessitant une attention et une correction.</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5. Documenter les résultats : Notez tous les points identifiés en tant que non-conformes, avec des descriptions détaillées et des recommandations pour la résolution.</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Si vous avez des données spécifiques à analyser, n'hésitez pas à me les fournir, et je serai heureux de vous aider plus en détail.]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rot="20952000">
            <a:off x="347472" y="411480"/>
            <a:ext cx="3730752" cy="768096"/>
          </a:xfrm>
          <a:prstGeom prst="rect">
            <a:avLst/>
          </a:prstGeom>
        </p:spPr>
      </p:pic>
      <p:sp>
        <p:nvSpPr>
          <p:cNvPr id="3" name="Text 0"/>
          <p:cNvSpPr/>
          <p:nvPr/>
        </p:nvSpPr>
        <p:spPr>
          <a:xfrm>
            <a:off x="457200" y="914400"/>
            <a:ext cx="8229600" cy="2743200"/>
          </a:xfrm>
          <a:prstGeom prst="rect">
            <a:avLst/>
          </a:prstGeom>
          <a:noFill/>
          <a:ln/>
        </p:spPr>
        <p:txBody>
          <a:bodyPr wrap="square" rtlCol="0" anchor="ctr"/>
          <a:lstStyle/>
          <a:p>
            <a:pPr indent="0" marL="0">
              <a:buNone/>
            </a:pPr>
            <a:r>
              <a:rPr lang="en-US" sz="1200" dirty="0">
                <a:solidFill>
                  <a:srgbClr val="333333"/>
                </a:solidFill>
                <a:latin typeface="Arial" pitchFamily="34" charset="0"/>
                <a:ea typeface="Arial" pitchFamily="34" charset="-122"/>
                <a:cs typeface="Arial" pitchFamily="34" charset="-120"/>
              </a:rPr>
              <a:t>[Voici un plan d'action priorisé pour remédier aux non-conformités et réduire les risques identifiés :</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1. Évaluation des risques : Réaliser une évaluation complète des risques actuels pour identifier les plus critiques.</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2. Priorisation des actions : Classer les actions à entreprendre en fonction de leur impact potentiel et du temps nécessaire pour leur réalisation.</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3. Développement d'un plan correctif :</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Identifier les ressources nécessaires (personnel, budget, matériel).</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Définir un calendrier précis avec des échéances clés.</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4. Communication interne : Informer tous les acteurs concernés sur le plan d'action et leurs rôles respectifs.</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5. Formation et sensibilisation : Organiser des formations pour s'assurer que toutes les personnes impliquées comprennent leur rôle dans la mise en œuvre du plan.</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6. Suivi et évaluation : Mettre en place un système de suivi régulier pour évaluer l'avancement des actions et ajuster le plan si nécessaire.</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Ce plan permettra d'agir de manière efficace et ciblée, réduisant ainsi les risques associés aux non-conformités.]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rot="20952000">
            <a:off x="347472" y="411480"/>
            <a:ext cx="3730752" cy="768096"/>
          </a:xfrm>
          <a:prstGeom prst="rect">
            <a:avLst/>
          </a:prstGeom>
        </p:spPr>
      </p:pic>
      <p:sp>
        <p:nvSpPr>
          <p:cNvPr id="3" name="Text 0"/>
          <p:cNvSpPr/>
          <p:nvPr/>
        </p:nvSpPr>
        <p:spPr>
          <a:xfrm>
            <a:off x="457200" y="914400"/>
            <a:ext cx="8229600" cy="3566160"/>
          </a:xfrm>
          <a:prstGeom prst="rect">
            <a:avLst/>
          </a:prstGeom>
          <a:noFill/>
          <a:ln/>
        </p:spPr>
        <p:txBody>
          <a:bodyPr wrap="square" rtlCol="0" anchor="ctr"/>
          <a:lstStyle/>
          <a:p>
            <a:pPr indent="0" marL="0">
              <a:buNone/>
            </a:pPr>
            <a:r>
              <a:rPr lang="en-US" sz="1200" dirty="0">
                <a:solidFill>
                  <a:srgbClr val="333333"/>
                </a:solidFill>
                <a:latin typeface="Arial" pitchFamily="34" charset="0"/>
                <a:ea typeface="Arial" pitchFamily="34" charset="-122"/>
                <a:cs typeface="Arial" pitchFamily="34" charset="-120"/>
              </a:rPr>
              <a:t>[Les risques principaux basés sur les vulnérabilités détectées peuvent être classés comme suit :</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1. Risques Élevés :</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Vulnérabilités permettant l'exécution de code distant (Remote Code Execution, RCE)</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Failles d'authentification robuste (comme les vulnérabilités SQL Injection ou Cross-Site Scripting, XSS)</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Biais dans le contrôle des autorisations (insuffisance des contrôles d'accès)</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2. Risques Moyens :</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Vulnérabilités de configuration inappropriée (comme les ports fermés mais non sécurisés)</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Erreurs dans la gestion des journaux et des logs</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Problèmes de mise à jour logicielle non régulière</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3. Risques Faibles :</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Vulnérabilités liées aux paramètres par défaut (comme les mots de passe faibles)</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Erreurs mineures dans la documentation technique</a:t>
            </a:r>
            <a:endParaRPr lang="en-US" sz="1200" dirty="0"/>
          </a:p>
          <a:p>
            <a:pPr indent="0" marL="0">
              <a:buNone/>
            </a:pPr>
            <a:r>
              <a:rPr lang="en-US" sz="1200" dirty="0">
                <a:solidFill>
                  <a:srgbClr val="333333"/>
                </a:solidFill>
                <a:latin typeface="Arial" pitchFamily="34" charset="0"/>
                <a:ea typeface="Arial" pitchFamily="34" charset="-122"/>
                <a:cs typeface="Arial" pitchFamily="34" charset="-120"/>
              </a:rPr>
              <a:t>- Mauvaises pratiques d'encodage des données]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Ezio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Audit Complet ISO 27001</dc:title>
  <dc:subject>Audit Complet ISO 27001</dc:subject>
  <dc:creator>Ezio Audit</dc:creator>
  <cp:lastModifiedBy>Ezio Audit</cp:lastModifiedBy>
  <cp:revision>1</cp:revision>
  <dcterms:created xsi:type="dcterms:W3CDTF">2026-02-14T23:08:07Z</dcterms:created>
  <dcterms:modified xsi:type="dcterms:W3CDTF">2026-02-14T23:08:07Z</dcterms:modified>
</cp:coreProperties>
</file>