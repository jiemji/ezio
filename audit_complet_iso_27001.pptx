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2286000"/>
            <a:ext cx="8229600" cy="1371600"/>
          </a:xfrm>
          <a:prstGeom prst="rect">
            <a:avLst/>
          </a:prstGeom>
          <a:noFill/>
          <a:ln/>
        </p:spPr>
        <p:txBody>
          <a:bodyPr wrap="square" rtlCol="0" anchor="ctr"/>
          <a:lstStyle/>
          <a:p>
            <a:pPr algn="ctr" indent="0" marL="0">
              <a:buNone/>
            </a:pPr>
            <a:r>
              <a:rPr lang="en-US" sz="3200" b="1" dirty="0">
                <a:solidFill>
                  <a:srgbClr val="003366"/>
                </a:solidFill>
              </a:rPr>
              <a:t>Audit Complet ISO 27001</a:t>
            </a:r>
            <a:endParaRPr lang="en-US" sz="3200" dirty="0"/>
          </a:p>
        </p:txBody>
      </p:sp>
      <p:sp>
        <p:nvSpPr>
          <p:cNvPr id="3" name="Text 1"/>
          <p:cNvSpPr/>
          <p:nvPr/>
        </p:nvSpPr>
        <p:spPr>
          <a:xfrm>
            <a:off x="457200" y="3657600"/>
            <a:ext cx="8229600" cy="457200"/>
          </a:xfrm>
          <a:prstGeom prst="rect">
            <a:avLst/>
          </a:prstGeom>
          <a:noFill/>
          <a:ln/>
        </p:spPr>
        <p:txBody>
          <a:bodyPr wrap="square" rtlCol="0" anchor="ctr"/>
          <a:lstStyle/>
          <a:p>
            <a:pPr algn="ctr" indent="0" marL="0">
              <a:buNone/>
            </a:pPr>
            <a:r>
              <a:rPr lang="en-US" sz="1400" dirty="0">
                <a:solidFill>
                  <a:srgbClr val="666666"/>
                </a:solidFill>
              </a:rPr>
              <a:t>Généré le 13/02/2026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003366"/>
                </a:solidFill>
              </a:rPr>
              <a:t>Module</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371600"/>
                <a:gridCol w="1371600"/>
                <a:gridCol w="1371600"/>
                <a:gridCol w="1371600"/>
                <a:gridCol w="1371600"/>
                <a:gridCol w="1371600"/>
              </a:tblGrid>
              <a:tr h="365760">
                <a:tc>
                  <a:txBody>
                    <a:bodyPr/>
                    <a:lstStyle/>
                    <a:p>
                      <a:pPr indent="0" marL="0">
                        <a:buNone/>
                      </a:pPr>
                      <a:r>
                        <a:rPr lang="en-US" sz="1000" dirty="0">
                          <a:solidFill>
                            <a:srgbClr val="000000"/>
                          </a:solidFill>
                        </a:rPr>
                        <a:t>Domaine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Réf</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Titre du contrôle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Niveau de maturité</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Conformité</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Actions recommandées (IA)</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365760">
                <a:tc>
                  <a:txBody>
                    <a:bodyPr/>
                    <a:lstStyle/>
                    <a:p>
                      <a:pPr indent="0" marL="0">
                        <a:buNone/>
                      </a:pPr>
                      <a:r>
                        <a:rPr lang="en-US" sz="1000" dirty="0">
                          <a:solidFill>
                            <a:srgbClr val="000000"/>
                          </a:solidFill>
                        </a:rPr>
                        <a:t>6. Contrôles des personnes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6.3</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Sensibilisation</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assez mature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partiellement conforme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365760">
                <a:tc>
                  <a:txBody>
                    <a:bodyPr/>
                    <a:lstStyle/>
                    <a:p>
                      <a:pPr indent="0" marL="0">
                        <a:buNone/>
                      </a:pPr>
                      <a:r>
                        <a:rPr lang="en-US" sz="1000" dirty="0">
                          <a:solidFill>
                            <a:srgbClr val="000000"/>
                          </a:solidFill>
                        </a:rPr>
                        <a:t>7. Contrôles physiques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7.2</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Entrées physiques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très mature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Conforme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365760">
                <a:tc>
                  <a:txBody>
                    <a:bodyPr/>
                    <a:lstStyle/>
                    <a:p>
                      <a:pPr indent="0" marL="0">
                        <a:buNone/>
                      </a:pPr>
                      <a:r>
                        <a:rPr lang="en-US" sz="1000" dirty="0">
                          <a:solidFill>
                            <a:srgbClr val="000000"/>
                          </a:solidFill>
                        </a:rPr>
                        <a:t>8. Contrôles technologiques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8.7</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Protection malware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mature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Conforme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bl>
          </a:graphicData>
        </a:graphic>
      </p:graphicFrame>
      <p:sp>
        <p:nvSpPr>
          <p:cNvPr id="4" name="Text 1"/>
          <p:cNvSpPr/>
          <p:nvPr/>
        </p:nvSpPr>
        <p:spPr>
          <a:xfrm>
            <a:off x="457200" y="2743200"/>
            <a:ext cx="8229600" cy="274320"/>
          </a:xfrm>
          <a:prstGeom prst="rect">
            <a:avLst/>
          </a:prstGeom>
          <a:noFill/>
          <a:ln/>
        </p:spPr>
        <p:txBody>
          <a:bodyPr wrap="square" rtlCol="0" anchor="ctr"/>
          <a:lstStyle/>
          <a:p>
            <a:pPr indent="0" marL="0">
              <a:buNone/>
            </a:pPr>
            <a:r>
              <a:rPr lang="en-US" sz="1200" dirty="0">
                <a:solidFill>
                  <a:srgbClr val="333333"/>
                </a:solidFill>
              </a:rPr>
              <a:t>&lt;br&gt;&lt;br&gt;</a:t>
            </a:r>
            <a:endParaRPr lang="en-US" sz="1200" dirty="0"/>
          </a:p>
        </p:txBody>
      </p:sp>
      <p:sp>
        <p:nvSpPr>
          <p:cNvPr id="5" name="Text 2"/>
          <p:cNvSpPr/>
          <p:nvPr/>
        </p:nvSpPr>
        <p:spPr>
          <a:xfrm>
            <a:off x="457200" y="3017520"/>
            <a:ext cx="8229600" cy="274320"/>
          </a:xfrm>
          <a:prstGeom prst="rect">
            <a:avLst/>
          </a:prstGeom>
          <a:noFill/>
          <a:ln/>
        </p:spPr>
        <p:txBody>
          <a:bodyPr wrap="square" rtlCol="0" anchor="ctr"/>
          <a:lstStyle/>
          <a:p>
            <a:pPr indent="0" marL="0">
              <a:buNone/>
            </a:pPr>
            <a:r>
              <a:rPr lang="en-US" sz="1200" dirty="0">
                <a:solidFill>
                  <a:srgbClr val="333333"/>
                </a:solidFill>
              </a:rPr>
              <a:t>[Le rapport d'audit de sécurité que vous présentez est le fruit d'une analyse approfondie des systèmes et processus liés à la protection des actifs informationnels au sein de notre organisation. Notre entreprise, reconnue pour son engagement envers l'excellence opérationnelle et la conformité réglementaire, a mis en place une structure robuste visant à garantir la sécurité de nos données et infrastructures.</a:t>
            </a:r>
            <a:endParaRPr lang="en-US" sz="1200" dirty="0"/>
          </a:p>
        </p:txBody>
      </p:sp>
      <p:sp>
        <p:nvSpPr>
          <p:cNvPr id="6" name="Text 3"/>
          <p:cNvSpPr/>
          <p:nvPr/>
        </p:nvSpPr>
        <p:spPr>
          <a:xfrm>
            <a:off x="457200" y="3291840"/>
            <a:ext cx="8229600" cy="274320"/>
          </a:xfrm>
          <a:prstGeom prst="rect">
            <a:avLst/>
          </a:prstGeom>
          <a:noFill/>
          <a:ln/>
        </p:spPr>
        <p:txBody>
          <a:bodyPr wrap="square" rtlCol="0" anchor="ctr"/>
          <a:lstStyle/>
          <a:p>
            <a:pPr indent="0" marL="0">
              <a:buNone/>
            </a:pPr>
            <a:r>
              <a:rPr lang="en-US" sz="1200" dirty="0">
                <a:solidFill>
                  <a:srgbClr val="333333"/>
                </a:solidFill>
              </a:rPr>
              <a:t>Le contexte dans lequel nous travaillons est marqué par des défis croissants en matière de cybersécurité. Face à ces menaces, l'objectif principal de ce rapport d'audit est d'évaluer la mise en œuvre actuelle des contrôles de sécurité, identifier les vulnérabilités potentielles et proposer des recommandations concrètes pour améliorer notre posture de sécurité. Cette démarche vise à renforcer notre capacité à protéger nos actifs tout en assurant l'intégrité, la confidentialité et la disponibilité de nos informations.</a:t>
            </a:r>
            <a:endParaRPr lang="en-US" sz="1200" dirty="0"/>
          </a:p>
        </p:txBody>
      </p:sp>
      <p:sp>
        <p:nvSpPr>
          <p:cNvPr id="7" name="Text 4"/>
          <p:cNvSpPr/>
          <p:nvPr/>
        </p:nvSpPr>
        <p:spPr>
          <a:xfrm>
            <a:off x="457200" y="3566160"/>
            <a:ext cx="8229600" cy="274320"/>
          </a:xfrm>
          <a:prstGeom prst="rect">
            <a:avLst/>
          </a:prstGeom>
          <a:noFill/>
          <a:ln/>
        </p:spPr>
        <p:txBody>
          <a:bodyPr wrap="square" rtlCol="0" anchor="ctr"/>
          <a:lstStyle/>
          <a:p>
            <a:pPr indent="0" marL="0">
              <a:buNone/>
            </a:pPr>
            <a:r>
              <a:rPr lang="en-US" sz="1200" dirty="0">
                <a:solidFill>
                  <a:srgbClr val="333333"/>
                </a:solidFill>
              </a:rPr>
              <a:t>Les résultats détaillés du rapport seront présentés dans les sections suivantes, où nous examinerons chaque domaine clé (contrôles des personnes, contrôles physiques, contrôles technologiques) ainsi que l'état actuel de leur mise en œuvre et la conformité aux normes établies.]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003366"/>
                </a:solidFill>
              </a:rPr>
              <a:t>Module</a:t>
            </a:r>
            <a:endParaRPr lang="en-US" sz="2400" dirty="0"/>
          </a:p>
        </p:txBody>
      </p:sp>
      <p:sp>
        <p:nvSpPr>
          <p:cNvPr id="3" name="Text 1"/>
          <p:cNvSpPr/>
          <p:nvPr/>
        </p:nvSpPr>
        <p:spPr>
          <a:xfrm>
            <a:off x="457200" y="1097280"/>
            <a:ext cx="8229600" cy="274320"/>
          </a:xfrm>
          <a:prstGeom prst="rect">
            <a:avLst/>
          </a:prstGeom>
          <a:noFill/>
          <a:ln/>
        </p:spPr>
        <p:txBody>
          <a:bodyPr wrap="square" rtlCol="0" anchor="ctr"/>
          <a:lstStyle/>
          <a:p>
            <a:pPr indent="0" marL="0">
              <a:buNone/>
            </a:pPr>
            <a:r>
              <a:rPr lang="en-US" sz="1200" dirty="0">
                <a:solidFill>
                  <a:srgbClr val="333333"/>
                </a:solidFill>
              </a:rPr>
              <a:t>[Les données nécessaires pour effectuer une analyse en détail ne sont pas fournies dans votre requête. Cependant, je peux vous aider à structurer l'analyse que vous souhaitez faire sur la conformité avec les normes ISO 27001.</a:t>
            </a:r>
            <a:endParaRPr lang="en-US" sz="1200" dirty="0"/>
          </a:p>
        </p:txBody>
      </p:sp>
      <p:sp>
        <p:nvSpPr>
          <p:cNvPr id="4" name="Text 2"/>
          <p:cNvSpPr/>
          <p:nvPr/>
        </p:nvSpPr>
        <p:spPr>
          <a:xfrm>
            <a:off x="457200" y="1371600"/>
            <a:ext cx="8229600" cy="274320"/>
          </a:xfrm>
          <a:prstGeom prst="rect">
            <a:avLst/>
          </a:prstGeom>
          <a:noFill/>
          <a:ln/>
        </p:spPr>
        <p:txBody>
          <a:bodyPr wrap="square" rtlCol="0" anchor="ctr"/>
          <a:lstStyle/>
          <a:p>
            <a:pPr indent="0" marL="0">
              <a:buNone/>
            </a:pPr>
            <a:r>
              <a:rPr lang="en-US" sz="1200" dirty="0">
                <a:solidFill>
                  <a:srgbClr val="333333"/>
                </a:solidFill>
              </a:rPr>
              <a:t>Pour évaluer la conformité par rapport aux normes ISO 27001, il est important de suivre ces étapes :</a:t>
            </a:r>
            <a:endParaRPr lang="en-US" sz="1200" dirty="0"/>
          </a:p>
        </p:txBody>
      </p:sp>
      <p:sp>
        <p:nvSpPr>
          <p:cNvPr id="5" name="Text 3"/>
          <p:cNvSpPr/>
          <p:nvPr/>
        </p:nvSpPr>
        <p:spPr>
          <a:xfrm>
            <a:off x="457200" y="1645920"/>
            <a:ext cx="8229600" cy="274320"/>
          </a:xfrm>
          <a:prstGeom prst="rect">
            <a:avLst/>
          </a:prstGeom>
          <a:noFill/>
          <a:ln/>
        </p:spPr>
        <p:txBody>
          <a:bodyPr wrap="square" rtlCol="0" anchor="ctr"/>
          <a:lstStyle/>
          <a:p>
            <a:pPr indent="0" marL="0">
              <a:buNone/>
            </a:pPr>
            <a:r>
              <a:rPr lang="en-US" sz="1200" dirty="0">
                <a:solidFill>
                  <a:srgbClr val="333333"/>
                </a:solidFill>
              </a:rPr>
              <a:t>1. Comprendre les exigences : Familiarisez-vous avec tous les articles et clauses des normes ISO 27001.</a:t>
            </a:r>
            <a:endParaRPr lang="en-US" sz="1200" dirty="0"/>
          </a:p>
        </p:txBody>
      </p:sp>
      <p:sp>
        <p:nvSpPr>
          <p:cNvPr id="6" name="Text 4"/>
          <p:cNvSpPr/>
          <p:nvPr/>
        </p:nvSpPr>
        <p:spPr>
          <a:xfrm>
            <a:off x="457200" y="1920240"/>
            <a:ext cx="8229600" cy="274320"/>
          </a:xfrm>
          <a:prstGeom prst="rect">
            <a:avLst/>
          </a:prstGeom>
          <a:noFill/>
          <a:ln/>
        </p:spPr>
        <p:txBody>
          <a:bodyPr wrap="square" rtlCol="0" anchor="ctr"/>
          <a:lstStyle/>
          <a:p>
            <a:pPr indent="0" marL="0">
              <a:buNone/>
            </a:pPr>
            <a:r>
              <a:rPr lang="en-US" sz="1200" dirty="0">
                <a:solidFill>
                  <a:srgbClr val="333333"/>
                </a:solidFill>
              </a:rPr>
              <a:t>2. Répertorier les contrôles pertinents : Identifiez les contrôles spécifiques qui sont requis pour chaque clause de la norme.</a:t>
            </a:r>
            <a:endParaRPr lang="en-US" sz="1200" dirty="0"/>
          </a:p>
        </p:txBody>
      </p:sp>
      <p:sp>
        <p:nvSpPr>
          <p:cNvPr id="7" name="Text 5"/>
          <p:cNvSpPr/>
          <p:nvPr/>
        </p:nvSpPr>
        <p:spPr>
          <a:xfrm>
            <a:off x="457200" y="2194560"/>
            <a:ext cx="8229600" cy="274320"/>
          </a:xfrm>
          <a:prstGeom prst="rect">
            <a:avLst/>
          </a:prstGeom>
          <a:noFill/>
          <a:ln/>
        </p:spPr>
        <p:txBody>
          <a:bodyPr wrap="square" rtlCol="0" anchor="ctr"/>
          <a:lstStyle/>
          <a:p>
            <a:pPr indent="0" marL="0">
              <a:buNone/>
            </a:pPr>
            <a:r>
              <a:rPr lang="en-US" sz="1200" dirty="0">
                <a:solidFill>
                  <a:srgbClr val="333333"/>
                </a:solidFill>
              </a:rPr>
              <a:t>3. Évaluer l'application : Vérifiez si ces contrôles sont correctement appliqués et documentés dans votre organisation.</a:t>
            </a:r>
            <a:endParaRPr lang="en-US" sz="1200" dirty="0"/>
          </a:p>
        </p:txBody>
      </p:sp>
      <p:sp>
        <p:nvSpPr>
          <p:cNvPr id="8" name="Text 6"/>
          <p:cNvSpPr/>
          <p:nvPr/>
        </p:nvSpPr>
        <p:spPr>
          <a:xfrm>
            <a:off x="457200" y="2468880"/>
            <a:ext cx="8229600" cy="274320"/>
          </a:xfrm>
          <a:prstGeom prst="rect">
            <a:avLst/>
          </a:prstGeom>
          <a:noFill/>
          <a:ln/>
        </p:spPr>
        <p:txBody>
          <a:bodyPr wrap="square" rtlCol="0" anchor="ctr"/>
          <a:lstStyle/>
          <a:p>
            <a:pPr indent="0" marL="0">
              <a:buNone/>
            </a:pPr>
            <a:r>
              <a:rPr lang="en-US" sz="1200" dirty="0">
                <a:solidFill>
                  <a:srgbClr val="333333"/>
                </a:solidFill>
              </a:rPr>
              <a:t>4. Identifier les points de non-conformité :</a:t>
            </a:r>
            <a:endParaRPr lang="en-US" sz="1200" dirty="0"/>
          </a:p>
        </p:txBody>
      </p:sp>
      <p:sp>
        <p:nvSpPr>
          <p:cNvPr id="9" name="Text 7"/>
          <p:cNvSpPr/>
          <p:nvPr/>
        </p:nvSpPr>
        <p:spPr>
          <a:xfrm>
            <a:off x="457200" y="2743200"/>
            <a:ext cx="8229600" cy="274320"/>
          </a:xfrm>
          <a:prstGeom prst="rect">
            <a:avLst/>
          </a:prstGeom>
          <a:noFill/>
          <a:ln/>
        </p:spPr>
        <p:txBody>
          <a:bodyPr wrap="square" rtlCol="0" anchor="ctr"/>
          <a:lstStyle/>
          <a:p>
            <a:pPr indent="0" marL="0">
              <a:buNone/>
            </a:pPr>
            <a:r>
              <a:rPr lang="en-US" sz="1200" dirty="0">
                <a:solidFill>
                  <a:srgbClr val="333333"/>
                </a:solidFill>
              </a:rPr>
              <a:t>- Points de non-conformité majeurs : Ces sont des écarts significatifs qui peuvent entraîner un échec total de l'atteinte d'un objectif de sécurité ou une violation importante des normes ISO 27001.</a:t>
            </a:r>
            <a:endParaRPr lang="en-US" sz="1200" dirty="0"/>
          </a:p>
        </p:txBody>
      </p:sp>
      <p:sp>
        <p:nvSpPr>
          <p:cNvPr id="10" name="Text 8"/>
          <p:cNvSpPr/>
          <p:nvPr/>
        </p:nvSpPr>
        <p:spPr>
          <a:xfrm>
            <a:off x="457200" y="3017520"/>
            <a:ext cx="8229600" cy="274320"/>
          </a:xfrm>
          <a:prstGeom prst="rect">
            <a:avLst/>
          </a:prstGeom>
          <a:noFill/>
          <a:ln/>
        </p:spPr>
        <p:txBody>
          <a:bodyPr wrap="square" rtlCol="0" anchor="ctr"/>
          <a:lstStyle/>
          <a:p>
            <a:pPr indent="0" marL="0">
              <a:buNone/>
            </a:pPr>
            <a:r>
              <a:rPr lang="en-US" sz="1200" dirty="0">
                <a:solidFill>
                  <a:srgbClr val="333333"/>
                </a:solidFill>
              </a:rPr>
              <a:t>- Points de non-conformité mineurs : Ce sont des écarts moins importants, mais néanmoins nécessitant une attention et une correction.</a:t>
            </a:r>
            <a:endParaRPr lang="en-US" sz="1200" dirty="0"/>
          </a:p>
        </p:txBody>
      </p:sp>
      <p:sp>
        <p:nvSpPr>
          <p:cNvPr id="11" name="Text 9"/>
          <p:cNvSpPr/>
          <p:nvPr/>
        </p:nvSpPr>
        <p:spPr>
          <a:xfrm>
            <a:off x="457200" y="3291840"/>
            <a:ext cx="8229600" cy="274320"/>
          </a:xfrm>
          <a:prstGeom prst="rect">
            <a:avLst/>
          </a:prstGeom>
          <a:noFill/>
          <a:ln/>
        </p:spPr>
        <p:txBody>
          <a:bodyPr wrap="square" rtlCol="0" anchor="ctr"/>
          <a:lstStyle/>
          <a:p>
            <a:pPr indent="0" marL="0">
              <a:buNone/>
            </a:pPr>
            <a:r>
              <a:rPr lang="en-US" sz="1200" dirty="0">
                <a:solidFill>
                  <a:srgbClr val="333333"/>
                </a:solidFill>
              </a:rPr>
              <a:t>5. Documenter les résultats : Notez tous les points identifiés en tant que non-conformes, avec des descriptions détaillées et des recommandations pour la résolution.</a:t>
            </a:r>
            <a:endParaRPr lang="en-US" sz="1200" dirty="0"/>
          </a:p>
        </p:txBody>
      </p:sp>
      <p:sp>
        <p:nvSpPr>
          <p:cNvPr id="12" name="Text 10"/>
          <p:cNvSpPr/>
          <p:nvPr/>
        </p:nvSpPr>
        <p:spPr>
          <a:xfrm>
            <a:off x="457200" y="3566160"/>
            <a:ext cx="8229600" cy="274320"/>
          </a:xfrm>
          <a:prstGeom prst="rect">
            <a:avLst/>
          </a:prstGeom>
          <a:noFill/>
          <a:ln/>
        </p:spPr>
        <p:txBody>
          <a:bodyPr wrap="square" rtlCol="0" anchor="ctr"/>
          <a:lstStyle/>
          <a:p>
            <a:pPr indent="0" marL="0">
              <a:buNone/>
            </a:pPr>
            <a:r>
              <a:rPr lang="en-US" sz="1200" dirty="0">
                <a:solidFill>
                  <a:srgbClr val="333333"/>
                </a:solidFill>
              </a:rPr>
              <a:t>Si vous avez des données spécifiques à analyser, n'hésitez pas à me les fournir, et je serai heureux de vous aider plus en détail.]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003366"/>
                </a:solidFill>
              </a:rPr>
              <a:t>Module</a:t>
            </a:r>
            <a:endParaRPr lang="en-US" sz="2400" dirty="0"/>
          </a:p>
        </p:txBody>
      </p:sp>
      <p:sp>
        <p:nvSpPr>
          <p:cNvPr id="3" name="Text 1"/>
          <p:cNvSpPr/>
          <p:nvPr/>
        </p:nvSpPr>
        <p:spPr>
          <a:xfrm>
            <a:off x="457200" y="1097280"/>
            <a:ext cx="8229600" cy="274320"/>
          </a:xfrm>
          <a:prstGeom prst="rect">
            <a:avLst/>
          </a:prstGeom>
          <a:noFill/>
          <a:ln/>
        </p:spPr>
        <p:txBody>
          <a:bodyPr wrap="square" rtlCol="0" anchor="ctr"/>
          <a:lstStyle/>
          <a:p>
            <a:pPr indent="0" marL="0">
              <a:buNone/>
            </a:pPr>
            <a:r>
              <a:rPr lang="en-US" sz="1200" dirty="0">
                <a:solidFill>
                  <a:srgbClr val="333333"/>
                </a:solidFill>
              </a:rPr>
              <a:t>[Voici un plan d'action priorisé pour remédier aux non-conformités et réduire les risques identifiés :</a:t>
            </a:r>
            <a:endParaRPr lang="en-US" sz="1200" dirty="0"/>
          </a:p>
        </p:txBody>
      </p:sp>
      <p:sp>
        <p:nvSpPr>
          <p:cNvPr id="4" name="Text 2"/>
          <p:cNvSpPr/>
          <p:nvPr/>
        </p:nvSpPr>
        <p:spPr>
          <a:xfrm>
            <a:off x="457200" y="1371600"/>
            <a:ext cx="8229600" cy="274320"/>
          </a:xfrm>
          <a:prstGeom prst="rect">
            <a:avLst/>
          </a:prstGeom>
          <a:noFill/>
          <a:ln/>
        </p:spPr>
        <p:txBody>
          <a:bodyPr wrap="square" rtlCol="0" anchor="ctr"/>
          <a:lstStyle/>
          <a:p>
            <a:pPr indent="0" marL="0">
              <a:buNone/>
            </a:pPr>
            <a:r>
              <a:rPr lang="en-US" sz="1200" dirty="0">
                <a:solidFill>
                  <a:srgbClr val="333333"/>
                </a:solidFill>
              </a:rPr>
              <a:t>1. Évaluation des risques : Réaliser une évaluation complète des risques actuels pour identifier les plus critiques.</a:t>
            </a:r>
            <a:endParaRPr lang="en-US" sz="1200" dirty="0"/>
          </a:p>
        </p:txBody>
      </p:sp>
      <p:sp>
        <p:nvSpPr>
          <p:cNvPr id="5" name="Text 3"/>
          <p:cNvSpPr/>
          <p:nvPr/>
        </p:nvSpPr>
        <p:spPr>
          <a:xfrm>
            <a:off x="457200" y="1645920"/>
            <a:ext cx="8229600" cy="274320"/>
          </a:xfrm>
          <a:prstGeom prst="rect">
            <a:avLst/>
          </a:prstGeom>
          <a:noFill/>
          <a:ln/>
        </p:spPr>
        <p:txBody>
          <a:bodyPr wrap="square" rtlCol="0" anchor="ctr"/>
          <a:lstStyle/>
          <a:p>
            <a:pPr indent="0" marL="0">
              <a:buNone/>
            </a:pPr>
            <a:r>
              <a:rPr lang="en-US" sz="1200" dirty="0">
                <a:solidFill>
                  <a:srgbClr val="333333"/>
                </a:solidFill>
              </a:rPr>
              <a:t>2. Priorisation des actions : Classer les actions à entreprendre en fonction de leur impact potentiel et du temps nécessaire pour leur réalisation.</a:t>
            </a:r>
            <a:endParaRPr lang="en-US" sz="1200" dirty="0"/>
          </a:p>
        </p:txBody>
      </p:sp>
      <p:sp>
        <p:nvSpPr>
          <p:cNvPr id="6" name="Text 4"/>
          <p:cNvSpPr/>
          <p:nvPr/>
        </p:nvSpPr>
        <p:spPr>
          <a:xfrm>
            <a:off x="457200" y="1920240"/>
            <a:ext cx="8229600" cy="274320"/>
          </a:xfrm>
          <a:prstGeom prst="rect">
            <a:avLst/>
          </a:prstGeom>
          <a:noFill/>
          <a:ln/>
        </p:spPr>
        <p:txBody>
          <a:bodyPr wrap="square" rtlCol="0" anchor="ctr"/>
          <a:lstStyle/>
          <a:p>
            <a:pPr indent="0" marL="0">
              <a:buNone/>
            </a:pPr>
            <a:r>
              <a:rPr lang="en-US" sz="1200" dirty="0">
                <a:solidFill>
                  <a:srgbClr val="333333"/>
                </a:solidFill>
              </a:rPr>
              <a:t>3. Développement d'un plan correctif :</a:t>
            </a:r>
            <a:endParaRPr lang="en-US" sz="1200" dirty="0"/>
          </a:p>
        </p:txBody>
      </p:sp>
      <p:sp>
        <p:nvSpPr>
          <p:cNvPr id="7" name="Text 5"/>
          <p:cNvSpPr/>
          <p:nvPr/>
        </p:nvSpPr>
        <p:spPr>
          <a:xfrm>
            <a:off x="457200" y="2194560"/>
            <a:ext cx="8229600" cy="274320"/>
          </a:xfrm>
          <a:prstGeom prst="rect">
            <a:avLst/>
          </a:prstGeom>
          <a:noFill/>
          <a:ln/>
        </p:spPr>
        <p:txBody>
          <a:bodyPr wrap="square" rtlCol="0" anchor="ctr"/>
          <a:lstStyle/>
          <a:p>
            <a:pPr indent="0" marL="0">
              <a:buNone/>
            </a:pPr>
            <a:r>
              <a:rPr lang="en-US" sz="1200" dirty="0">
                <a:solidFill>
                  <a:srgbClr val="333333"/>
                </a:solidFill>
              </a:rPr>
              <a:t>- Identifier les ressources nécessaires (personnel, budget, matériel).</a:t>
            </a:r>
            <a:endParaRPr lang="en-US" sz="1200" dirty="0"/>
          </a:p>
        </p:txBody>
      </p:sp>
      <p:sp>
        <p:nvSpPr>
          <p:cNvPr id="8" name="Text 6"/>
          <p:cNvSpPr/>
          <p:nvPr/>
        </p:nvSpPr>
        <p:spPr>
          <a:xfrm>
            <a:off x="457200" y="2468880"/>
            <a:ext cx="8229600" cy="274320"/>
          </a:xfrm>
          <a:prstGeom prst="rect">
            <a:avLst/>
          </a:prstGeom>
          <a:noFill/>
          <a:ln/>
        </p:spPr>
        <p:txBody>
          <a:bodyPr wrap="square" rtlCol="0" anchor="ctr"/>
          <a:lstStyle/>
          <a:p>
            <a:pPr indent="0" marL="0">
              <a:buNone/>
            </a:pPr>
            <a:r>
              <a:rPr lang="en-US" sz="1200" dirty="0">
                <a:solidFill>
                  <a:srgbClr val="333333"/>
                </a:solidFill>
              </a:rPr>
              <a:t>- Définir un calendrier précis avec des échéances clés.</a:t>
            </a:r>
            <a:endParaRPr lang="en-US" sz="1200" dirty="0"/>
          </a:p>
        </p:txBody>
      </p:sp>
      <p:sp>
        <p:nvSpPr>
          <p:cNvPr id="9" name="Text 7"/>
          <p:cNvSpPr/>
          <p:nvPr/>
        </p:nvSpPr>
        <p:spPr>
          <a:xfrm>
            <a:off x="457200" y="2743200"/>
            <a:ext cx="8229600" cy="274320"/>
          </a:xfrm>
          <a:prstGeom prst="rect">
            <a:avLst/>
          </a:prstGeom>
          <a:noFill/>
          <a:ln/>
        </p:spPr>
        <p:txBody>
          <a:bodyPr wrap="square" rtlCol="0" anchor="ctr"/>
          <a:lstStyle/>
          <a:p>
            <a:pPr indent="0" marL="0">
              <a:buNone/>
            </a:pPr>
            <a:r>
              <a:rPr lang="en-US" sz="1200" dirty="0">
                <a:solidFill>
                  <a:srgbClr val="333333"/>
                </a:solidFill>
              </a:rPr>
              <a:t>4. Communication interne : Informer tous les acteurs concernés sur le plan d'action et leurs rôles respectifs.</a:t>
            </a:r>
            <a:endParaRPr lang="en-US" sz="1200" dirty="0"/>
          </a:p>
        </p:txBody>
      </p:sp>
      <p:sp>
        <p:nvSpPr>
          <p:cNvPr id="10" name="Text 8"/>
          <p:cNvSpPr/>
          <p:nvPr/>
        </p:nvSpPr>
        <p:spPr>
          <a:xfrm>
            <a:off x="457200" y="3017520"/>
            <a:ext cx="8229600" cy="274320"/>
          </a:xfrm>
          <a:prstGeom prst="rect">
            <a:avLst/>
          </a:prstGeom>
          <a:noFill/>
          <a:ln/>
        </p:spPr>
        <p:txBody>
          <a:bodyPr wrap="square" rtlCol="0" anchor="ctr"/>
          <a:lstStyle/>
          <a:p>
            <a:pPr indent="0" marL="0">
              <a:buNone/>
            </a:pPr>
            <a:r>
              <a:rPr lang="en-US" sz="1200" dirty="0">
                <a:solidFill>
                  <a:srgbClr val="333333"/>
                </a:solidFill>
              </a:rPr>
              <a:t>5. Formation et sensibilisation : Organiser des formations pour s'assurer que toutes les personnes impliquées comprennent leur rôle dans la mise en œuvre du plan.</a:t>
            </a:r>
            <a:endParaRPr lang="en-US" sz="1200" dirty="0"/>
          </a:p>
        </p:txBody>
      </p:sp>
      <p:sp>
        <p:nvSpPr>
          <p:cNvPr id="11" name="Text 9"/>
          <p:cNvSpPr/>
          <p:nvPr/>
        </p:nvSpPr>
        <p:spPr>
          <a:xfrm>
            <a:off x="457200" y="3291840"/>
            <a:ext cx="8229600" cy="274320"/>
          </a:xfrm>
          <a:prstGeom prst="rect">
            <a:avLst/>
          </a:prstGeom>
          <a:noFill/>
          <a:ln/>
        </p:spPr>
        <p:txBody>
          <a:bodyPr wrap="square" rtlCol="0" anchor="ctr"/>
          <a:lstStyle/>
          <a:p>
            <a:pPr indent="0" marL="0">
              <a:buNone/>
            </a:pPr>
            <a:r>
              <a:rPr lang="en-US" sz="1200" dirty="0">
                <a:solidFill>
                  <a:srgbClr val="333333"/>
                </a:solidFill>
              </a:rPr>
              <a:t>6. Suivi et évaluation : Mettre en place un système de suivi régulier pour évaluer l'avancement des actions et ajuster le plan si nécessaire.</a:t>
            </a:r>
            <a:endParaRPr lang="en-US" sz="1200" dirty="0"/>
          </a:p>
        </p:txBody>
      </p:sp>
      <p:sp>
        <p:nvSpPr>
          <p:cNvPr id="12" name="Text 10"/>
          <p:cNvSpPr/>
          <p:nvPr/>
        </p:nvSpPr>
        <p:spPr>
          <a:xfrm>
            <a:off x="457200" y="3566160"/>
            <a:ext cx="8229600" cy="274320"/>
          </a:xfrm>
          <a:prstGeom prst="rect">
            <a:avLst/>
          </a:prstGeom>
          <a:noFill/>
          <a:ln/>
        </p:spPr>
        <p:txBody>
          <a:bodyPr wrap="square" rtlCol="0" anchor="ctr"/>
          <a:lstStyle/>
          <a:p>
            <a:pPr indent="0" marL="0">
              <a:buNone/>
            </a:pPr>
            <a:r>
              <a:rPr lang="en-US" sz="1200" dirty="0">
                <a:solidFill>
                  <a:srgbClr val="333333"/>
                </a:solidFill>
              </a:rPr>
              <a:t>Ce plan permettra d'agir de manière efficace et ciblée, réduisant ainsi les risques associés aux non-conformités.]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400" b="1" dirty="0">
                <a:solidFill>
                  <a:srgbClr val="003366"/>
                </a:solidFill>
              </a:rPr>
              <a:t>Module</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57400"/>
                <a:gridCol w="2057400"/>
                <a:gridCol w="2057400"/>
                <a:gridCol w="2057400"/>
              </a:tblGrid>
              <a:tr h="365760">
                <a:tc>
                  <a:txBody>
                    <a:bodyPr/>
                    <a:lstStyle/>
                    <a:p>
                      <a:pPr indent="0" marL="0">
                        <a:buNone/>
                      </a:pPr>
                      <a:r>
                        <a:rPr lang="en-US" sz="1000" dirty="0">
                          <a:solidFill>
                            <a:srgbClr val="000000"/>
                          </a:solidFill>
                        </a:rPr>
                        <a:t>Domaine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Titre du contrôle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Constats de l'auditeur</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Conformité</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365760">
                <a:tc>
                  <a:txBody>
                    <a:bodyPr/>
                    <a:lstStyle/>
                    <a:p>
                      <a:pPr indent="0" marL="0">
                        <a:buNone/>
                      </a:pPr>
                      <a:r>
                        <a:rPr lang="en-US" sz="1000" dirty="0">
                          <a:solidFill>
                            <a:srgbClr val="000000"/>
                          </a:solidFill>
                        </a:rPr>
                        <a:t>5. Contrôles organisationnels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Politiques de sécurité</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 Politique existante mais non mise à jour depuis 3 ans.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Conforme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365760">
                <a:tc>
                  <a:txBody>
                    <a:bodyPr/>
                    <a:lstStyle/>
                    <a:p>
                      <a:pPr indent="0" marL="0">
                        <a:buNone/>
                      </a:pPr>
                      <a:r>
                        <a:rPr lang="en-US" sz="1000" dirty="0">
                          <a:solidFill>
                            <a:srgbClr val="000000"/>
                          </a:solidFill>
                        </a:rPr>
                        <a:t>5. Contrôles organisationnels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Contrôle des accès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Conforme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365760">
                <a:tc>
                  <a:txBody>
                    <a:bodyPr/>
                    <a:lstStyle/>
                    <a:p>
                      <a:pPr indent="0" marL="0">
                        <a:buNone/>
                      </a:pPr>
                      <a:r>
                        <a:rPr lang="en-US" sz="1000" dirty="0">
                          <a:solidFill>
                            <a:srgbClr val="000000"/>
                          </a:solidFill>
                        </a:rPr>
                        <a:t>6. Contrôles des personnes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Sensibilisation</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partiellement conforme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365760">
                <a:tc>
                  <a:txBody>
                    <a:bodyPr/>
                    <a:lstStyle/>
                    <a:p>
                      <a:pPr indent="0" marL="0">
                        <a:buNone/>
                      </a:pPr>
                      <a:r>
                        <a:rPr lang="en-US" sz="1000" dirty="0">
                          <a:solidFill>
                            <a:srgbClr val="000000"/>
                          </a:solidFill>
                        </a:rPr>
                        <a:t>7. Contrôles physiques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Entrées physiques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Conforme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365760">
                <a:tc>
                  <a:txBody>
                    <a:bodyPr/>
                    <a:lstStyle/>
                    <a:p>
                      <a:pPr indent="0" marL="0">
                        <a:buNone/>
                      </a:pPr>
                      <a:r>
                        <a:rPr lang="en-US" sz="1000" dirty="0">
                          <a:solidFill>
                            <a:srgbClr val="000000"/>
                          </a:solidFill>
                        </a:rPr>
                        <a:t>8. Contrôles technologiques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Protection malware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Conforme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365760">
                <a:tc>
                  <a:txBody>
                    <a:bodyPr/>
                    <a:lstStyle/>
                    <a:p>
                      <a:pPr indent="0" marL="0">
                        <a:buNone/>
                      </a:pPr>
                      <a:r>
                        <a:rPr lang="en-US" sz="1000" dirty="0">
                          <a:solidFill>
                            <a:srgbClr val="000000"/>
                          </a:solidFill>
                        </a:rPr>
                        <a:t>8. Contrôles technologiques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Suppression des informations</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000" dirty="0">
                          <a:solidFill>
                            <a:srgbClr val="000000"/>
                          </a:solidFill>
                        </a:rPr>
                        <a:t>non conforme</a:t>
                      </a:r>
                      <a:endParaRPr lang="en-US" sz="10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bl>
          </a:graphicData>
        </a:graphic>
      </p:graphicFrame>
      <p:sp>
        <p:nvSpPr>
          <p:cNvPr id="4" name="Text 1"/>
          <p:cNvSpPr/>
          <p:nvPr/>
        </p:nvSpPr>
        <p:spPr>
          <a:xfrm>
            <a:off x="457200" y="3840480"/>
            <a:ext cx="8229600" cy="274320"/>
          </a:xfrm>
          <a:prstGeom prst="rect">
            <a:avLst/>
          </a:prstGeom>
          <a:noFill/>
          <a:ln/>
        </p:spPr>
        <p:txBody>
          <a:bodyPr wrap="square" rtlCol="0" anchor="ctr"/>
          <a:lstStyle/>
          <a:p>
            <a:pPr indent="0" marL="0">
              <a:buNone/>
            </a:pPr>
            <a:r>
              <a:rPr lang="en-US" sz="1200" dirty="0">
                <a:solidFill>
                  <a:srgbClr val="333333"/>
                </a:solidFill>
              </a:rPr>
              <a:t>&lt;br&gt;&lt;br&gt;</a:t>
            </a:r>
            <a:endParaRPr lang="en-US" sz="1200" dirty="0"/>
          </a:p>
        </p:txBody>
      </p:sp>
      <p:sp>
        <p:nvSpPr>
          <p:cNvPr id="5" name="Text 2"/>
          <p:cNvSpPr/>
          <p:nvPr/>
        </p:nvSpPr>
        <p:spPr>
          <a:xfrm>
            <a:off x="457200" y="4114800"/>
            <a:ext cx="8229600" cy="274320"/>
          </a:xfrm>
          <a:prstGeom prst="rect">
            <a:avLst/>
          </a:prstGeom>
          <a:noFill/>
          <a:ln/>
        </p:spPr>
        <p:txBody>
          <a:bodyPr wrap="square" rtlCol="0" anchor="ctr"/>
          <a:lstStyle/>
          <a:p>
            <a:pPr indent="0" marL="0">
              <a:buNone/>
            </a:pPr>
            <a:r>
              <a:rPr lang="en-US" sz="1200" dirty="0">
                <a:solidFill>
                  <a:srgbClr val="333333"/>
                </a:solidFill>
              </a:rPr>
              <a:t>Voici les risques principaux basés sur les vulnérabilités détectées, classés par criticité :</a:t>
            </a:r>
            <a:endParaRPr lang="en-US" sz="1200" dirty="0"/>
          </a:p>
        </p:txBody>
      </p:sp>
      <p:sp>
        <p:nvSpPr>
          <p:cNvPr id="6" name="Text 3"/>
          <p:cNvSpPr/>
          <p:nvPr/>
        </p:nvSpPr>
        <p:spPr>
          <a:xfrm>
            <a:off x="457200" y="4389120"/>
            <a:ext cx="8229600" cy="274320"/>
          </a:xfrm>
          <a:prstGeom prst="rect">
            <a:avLst/>
          </a:prstGeom>
          <a:noFill/>
          <a:ln/>
        </p:spPr>
        <p:txBody>
          <a:bodyPr wrap="square" rtlCol="0" anchor="ctr"/>
          <a:lstStyle/>
          <a:p>
            <a:pPr indent="0" marL="0">
              <a:buNone/>
            </a:pPr>
            <a:r>
              <a:rPr lang="en-US" sz="1200" dirty="0">
                <a:solidFill>
                  <a:srgbClr val="333333"/>
                </a:solidFill>
              </a:rPr>
              <a:t>1. Élevé :</a:t>
            </a:r>
            <a:endParaRPr lang="en-US" sz="1200" dirty="0"/>
          </a:p>
        </p:txBody>
      </p:sp>
      <p:sp>
        <p:nvSpPr>
          <p:cNvPr id="7" name="Text 4"/>
          <p:cNvSpPr/>
          <p:nvPr/>
        </p:nvSpPr>
        <p:spPr>
          <a:xfrm>
            <a:off x="457200" y="4663440"/>
            <a:ext cx="8229600" cy="274320"/>
          </a:xfrm>
          <a:prstGeom prst="rect">
            <a:avLst/>
          </a:prstGeom>
          <a:noFill/>
          <a:ln/>
        </p:spPr>
        <p:txBody>
          <a:bodyPr wrap="square" rtlCol="0" anchor="ctr"/>
          <a:lstStyle/>
          <a:p>
            <a:pPr indent="0" marL="0">
              <a:buNone/>
            </a:pPr>
            <a:r>
              <a:rPr lang="en-US" sz="1200" dirty="0">
                <a:solidFill>
                  <a:srgbClr val="333333"/>
                </a:solidFill>
              </a:rPr>
              <a:t>- Politique de sécurité obsolète : La politique existante n'est pas mise à jour depuis 3 ans, ce qui peut entraîner des lacunes importantes en matière de protection contre les menaces actuelles.</a:t>
            </a:r>
            <a:endParaRPr lang="en-US" sz="1200" dirty="0"/>
          </a:p>
        </p:txBody>
      </p:sp>
      <p:sp>
        <p:nvSpPr>
          <p:cNvPr id="8" name="Text 5"/>
          <p:cNvSpPr/>
          <p:nvPr/>
        </p:nvSpPr>
        <p:spPr>
          <a:xfrm>
            <a:off x="457200" y="4937760"/>
            <a:ext cx="8229600" cy="274320"/>
          </a:xfrm>
          <a:prstGeom prst="rect">
            <a:avLst/>
          </a:prstGeom>
          <a:noFill/>
          <a:ln/>
        </p:spPr>
        <p:txBody>
          <a:bodyPr wrap="square" rtlCol="0" anchor="ctr"/>
          <a:lstStyle/>
          <a:p>
            <a:pPr indent="0" marL="0">
              <a:buNone/>
            </a:pPr>
            <a:r>
              <a:rPr lang="en-US" sz="1200" dirty="0">
                <a:solidFill>
                  <a:srgbClr val="333333"/>
                </a:solidFill>
              </a:rPr>
              <a:t>- Suppression des informations non conforme : Cette vulnérabilité expose l'organisation aux risques de fuite d'informations sensibles et potentiellement coûteuses.</a:t>
            </a:r>
            <a:endParaRPr lang="en-US" sz="1200" dirty="0"/>
          </a:p>
        </p:txBody>
      </p:sp>
      <p:sp>
        <p:nvSpPr>
          <p:cNvPr id="9" name="Text 6"/>
          <p:cNvSpPr/>
          <p:nvPr/>
        </p:nvSpPr>
        <p:spPr>
          <a:xfrm>
            <a:off x="457200" y="5212080"/>
            <a:ext cx="8229600" cy="274320"/>
          </a:xfrm>
          <a:prstGeom prst="rect">
            <a:avLst/>
          </a:prstGeom>
          <a:noFill/>
          <a:ln/>
        </p:spPr>
        <p:txBody>
          <a:bodyPr wrap="square" rtlCol="0" anchor="ctr"/>
          <a:lstStyle/>
          <a:p>
            <a:pPr indent="0" marL="0">
              <a:buNone/>
            </a:pPr>
            <a:r>
              <a:rPr lang="en-US" sz="1200" dirty="0">
                <a:solidFill>
                  <a:srgbClr val="333333"/>
                </a:solidFill>
              </a:rPr>
              <a:t>2. Moyen :</a:t>
            </a:r>
            <a:endParaRPr lang="en-US" sz="1200" dirty="0"/>
          </a:p>
        </p:txBody>
      </p:sp>
      <p:sp>
        <p:nvSpPr>
          <p:cNvPr id="10" name="Text 7"/>
          <p:cNvSpPr/>
          <p:nvPr/>
        </p:nvSpPr>
        <p:spPr>
          <a:xfrm>
            <a:off x="457200" y="5486400"/>
            <a:ext cx="8229600" cy="274320"/>
          </a:xfrm>
          <a:prstGeom prst="rect">
            <a:avLst/>
          </a:prstGeom>
          <a:noFill/>
          <a:ln/>
        </p:spPr>
        <p:txBody>
          <a:bodyPr wrap="square" rtlCol="0" anchor="ctr"/>
          <a:lstStyle/>
          <a:p>
            <a:pPr indent="0" marL="0">
              <a:buNone/>
            </a:pPr>
            <a:r>
              <a:rPr lang="en-US" sz="1200" dirty="0">
                <a:solidFill>
                  <a:srgbClr val="333333"/>
                </a:solidFill>
              </a:rPr>
              <a:t>- Sensibilisation partielle : Bien que la formation soit en place, elle n'est pas complète, ce qui peut réduire l'efficacité des efforts de sécurité au niveau personnel.</a:t>
            </a:r>
            <a:endParaRPr lang="en-US" sz="1200" dirty="0"/>
          </a:p>
        </p:txBody>
      </p:sp>
      <p:sp>
        <p:nvSpPr>
          <p:cNvPr id="11" name="Text 8"/>
          <p:cNvSpPr/>
          <p:nvPr/>
        </p:nvSpPr>
        <p:spPr>
          <a:xfrm>
            <a:off x="457200" y="5760720"/>
            <a:ext cx="8229600" cy="274320"/>
          </a:xfrm>
          <a:prstGeom prst="rect">
            <a:avLst/>
          </a:prstGeom>
          <a:noFill/>
          <a:ln/>
        </p:spPr>
        <p:txBody>
          <a:bodyPr wrap="square" rtlCol="0" anchor="ctr"/>
          <a:lstStyle/>
          <a:p>
            <a:pPr indent="0" marL="0">
              <a:buNone/>
            </a:pPr>
            <a:r>
              <a:rPr lang="en-US" sz="1200" dirty="0">
                <a:solidFill>
                  <a:srgbClr val="333333"/>
                </a:solidFill>
              </a:rPr>
              <a:t>- Entrées physiques non vérifiées : Une vulnérabilité potentielle dans les contrôles d'accès physique pourrait permettre une intrusion non autorisée.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Ezio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 Complet ISO 27001</dc:title>
  <dc:subject>Audit Complet ISO 27001</dc:subject>
  <dc:creator>Ezio Audit</dc:creator>
  <cp:lastModifiedBy>Ezio Audit</cp:lastModifiedBy>
  <cp:revision>1</cp:revision>
  <dcterms:created xsi:type="dcterms:W3CDTF">2026-02-13T22:26:19Z</dcterms:created>
  <dcterms:modified xsi:type="dcterms:W3CDTF">2026-02-13T22:26:19Z</dcterms:modified>
</cp:coreProperties>
</file>